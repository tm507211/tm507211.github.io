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3" r:id="rId4"/>
    <p:sldId id="274" r:id="rId5"/>
    <p:sldId id="275" r:id="rId6"/>
    <p:sldId id="277" r:id="rId7"/>
    <p:sldId id="276" r:id="rId8"/>
    <p:sldId id="280" r:id="rId9"/>
    <p:sldId id="278" r:id="rId10"/>
    <p:sldId id="279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A7326B7-5200-4CD9-AB61-57E14B8A6EBE}">
          <p14:sldIdLst>
            <p14:sldId id="256"/>
            <p14:sldId id="257"/>
            <p14:sldId id="273"/>
            <p14:sldId id="274"/>
            <p14:sldId id="275"/>
            <p14:sldId id="277"/>
            <p14:sldId id="276"/>
            <p14:sldId id="280"/>
            <p14:sldId id="278"/>
            <p14:sldId id="279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4"/>
    <p:restoredTop sz="94829"/>
  </p:normalViewPr>
  <p:slideViewPr>
    <p:cSldViewPr snapToGrid="0">
      <p:cViewPr varScale="1">
        <p:scale>
          <a:sx n="105" d="100"/>
          <a:sy n="105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930911-D214-D045-9349-C3772567489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2961A4-95F2-894E-ADC5-DD1F6E908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299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B5F3E-3B5A-D75A-BD4D-F730B1723D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BB222-6649-719C-9325-1F36E18AB0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03515-C1F8-453F-0EC6-51AA2C7A1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18CDE-3F47-EDF4-DC0A-3961C0818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3E81A-FFDE-B721-CD1E-8F4DF700E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94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0B8D5-26A3-EBE3-4E7F-AAD5E4FA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B45CA-D54D-699A-76B5-4F0844DBC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81831-8FAA-6066-BF8E-81CC6F10D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E2452-7B5D-A849-6C01-7274000D7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B564A-7A03-C6F6-F086-2432409A8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074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7E357-6679-D94B-3077-7CD86B168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CE16D-C6DB-A4BD-D8A8-5DF441199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6CECE-8E10-70CE-9C49-296C0E3F6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8E6D8-07D0-5A7C-2429-11F82ADB8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CECBD-59AE-2F7D-875F-F980C9A0F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689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45976-4201-5230-1292-88B31927C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E06A4-2D27-B445-C2AE-4DFE1F1B58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12955-52B7-7BAD-57BE-516E892B2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9ACBD-4913-8B30-DA1E-3856DA65C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03733-97C9-CB33-4679-932A852A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620720-8859-A269-160F-EC304CD91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859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9FEB4-D142-81F7-5D72-B998B0FF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9B809-1D4B-25FB-A392-4AD5E2738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47819-DD45-C145-4884-FD56DB131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A84147-EF4B-84F7-5107-72EAD152C7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0DC25E-4155-C332-2692-B4CDA12B2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6E4217-32CE-6EDB-822C-C0818C731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9ABF66-BC23-02A7-0046-74A3E798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613106-05AE-7254-9C13-0FA7121C5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42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14BAE-848A-5F54-3A53-DE23D45C4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8DFFEE-FF57-2D6E-082B-512B8CF6A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7220EE-2708-9A84-DF28-110E84C12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9D6CE-B64C-C538-21DF-D8291F940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009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ED71C6-356D-E558-4174-EA934A116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AF3206-B9DA-3961-3B09-B5610A499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8AA17-E9DA-FAC3-C9B5-09B1B1AA1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494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44BA2-B496-A5AD-8AAA-95FA8615E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ACE26-C855-0D28-4D15-3CDFC2752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64E0B-1DC0-3C0D-F4A2-D1C33C2BA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F5CE1-474B-EB3C-76AD-92081E569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34E6B-F034-7CA6-EC33-50AF7849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0DB7E-AA5F-DE24-0EC3-0396E2AC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46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FA7B6-1B0E-1E9A-FF73-2B29E7FC4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13D163-10D6-DE76-B416-097CDD6FFB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0D9EC6-4306-AA87-72BC-96A438999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74A75-C80D-3EDD-A7E3-736CCF13D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7D5F45-E11B-2C01-93C6-D6EC029DB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A8749-4563-07C6-5150-619BE3814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62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92E73-0654-0FC4-FA57-790699391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8A1B91-CFDE-D11E-FF7B-93DBE6009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845D3-A54F-0C5E-1122-1EFC709E0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3C6E3-06AC-2CAD-5190-8EC8B932F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66BF5-0B99-2F57-4FCF-CCAE7570B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475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F03C9B-F8AB-173A-C3DF-64A7E52181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77A583-EEE8-5F6B-1B72-A14AE2999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5FB26-E673-C15D-ACE1-BBA948D43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6D78F-8C1D-14A4-FB46-46EAAA54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E79D3-CE88-9D52-A16B-738A06771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0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E7AE9-6ED5-5836-3F2B-3A1E04AA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079C4-773A-4290-F256-2E91752B0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34355-216E-2F08-CFF1-B3CFFD9115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900130-2E42-9F4E-B9EA-739EF1E7DBD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052C4-72E0-9480-A591-D582C5D4B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CA343-A6B2-4A4A-89B2-C91404765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3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5E992-0B6F-C532-4CDC-01C88B584C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2968" y="1666235"/>
            <a:ext cx="9706062" cy="1352389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March 6, 2026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3B3C38-0311-0A88-4B39-23CF5C009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2968" y="3779284"/>
            <a:ext cx="9144000" cy="1655762"/>
          </a:xfrm>
        </p:spPr>
        <p:txBody>
          <a:bodyPr/>
          <a:lstStyle/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CSCI 246: Discrete Structures</a:t>
            </a: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Textbook Reference: Ch 4. Sec 24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C46AF35-1070-5310-AD82-FAFFE7E3F17E}"/>
              </a:ext>
            </a:extLst>
          </p:cNvPr>
          <p:cNvCxnSpPr/>
          <p:nvPr/>
        </p:nvCxnSpPr>
        <p:spPr>
          <a:xfrm>
            <a:off x="1242968" y="3429000"/>
            <a:ext cx="9706063" cy="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138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F536E-B36C-FFF5-92CE-C10A8003E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18EBE-B810-7F46-1CA1-4FCD6ED02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Lecture (~ 10 minutes)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Assignment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3 returned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Group Exercise (~40 minutes)</a:t>
            </a:r>
          </a:p>
        </p:txBody>
      </p:sp>
    </p:spTree>
    <p:extLst>
      <p:ext uri="{BB962C8B-B14F-4D97-AF65-F5344CB8AC3E}">
        <p14:creationId xmlns:p14="http://schemas.microsoft.com/office/powerpoint/2010/main" val="660948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BBE9D-9E02-2458-2BFB-839EE0AF0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5E777AF2-08C1-87E3-A452-9D031C3B14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7679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Definition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A relation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function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if and only if for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en-US" i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𝑐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5E777AF2-08C1-87E3-A452-9D031C3B14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767967"/>
              </a:xfrm>
              <a:blipFill>
                <a:blip r:embed="rId2"/>
                <a:stretch>
                  <a:fillRect l="-1217" t="-5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35A67BA-F8AA-2450-D725-79432C024A97}"/>
                  </a:ext>
                </a:extLst>
              </p:cNvPr>
              <p:cNvSpPr txBox="1"/>
              <p:nvPr/>
            </p:nvSpPr>
            <p:spPr>
              <a:xfrm>
                <a:off x="1165860" y="4206240"/>
                <a:ext cx="264097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35A67BA-F8AA-2450-D725-79432C024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860" y="4206240"/>
                <a:ext cx="2640979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F83D8F-7A2B-3FCA-394A-CBB2ABFB18C4}"/>
                  </a:ext>
                </a:extLst>
              </p:cNvPr>
              <p:cNvSpPr txBox="1"/>
              <p:nvPr/>
            </p:nvSpPr>
            <p:spPr>
              <a:xfrm>
                <a:off x="4391174" y="3903208"/>
                <a:ext cx="4067267" cy="10985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−&amp;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F83D8F-7A2B-3FCA-394A-CBB2ABFB1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174" y="3903208"/>
                <a:ext cx="4067267" cy="10985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F24BE3-B6CC-1660-C13C-E3C103C585CE}"/>
                  </a:ext>
                </a:extLst>
              </p:cNvPr>
              <p:cNvSpPr txBox="1"/>
              <p:nvPr/>
            </p:nvSpPr>
            <p:spPr>
              <a:xfrm>
                <a:off x="9042776" y="4206239"/>
                <a:ext cx="198336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F24BE3-B6CC-1660-C13C-E3C103C5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776" y="4206239"/>
                <a:ext cx="1983363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9471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8DF84-8808-03B8-2FC4-67347BD8D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F946B-6C62-959E-5D89-48EB54D1D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Domain, Image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FA424CDC-A855-03BF-A8EC-489A8C08E9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87439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Definition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be a function, the 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domain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d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om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:∃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𝑎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and the 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image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im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:∃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.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𝑎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 Note: image is sometimes referred to as 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range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We say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function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(denoted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domain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subset of the image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 We call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the codomain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FA424CDC-A855-03BF-A8EC-489A8C08E9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874391"/>
              </a:xfrm>
              <a:blipFill>
                <a:blip r:embed="rId2"/>
                <a:stretch>
                  <a:fillRect l="-1217" t="-3602" r="-870" b="-2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DBD8DC-6801-B439-9841-C73D58DB8D18}"/>
                  </a:ext>
                </a:extLst>
              </p:cNvPr>
              <p:cNvSpPr txBox="1"/>
              <p:nvPr/>
            </p:nvSpPr>
            <p:spPr>
              <a:xfrm>
                <a:off x="1165860" y="5705856"/>
                <a:ext cx="264097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DBD8DC-6801-B439-9841-C73D58DB8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860" y="5705856"/>
                <a:ext cx="2640979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44BBBE-5677-3792-A0FA-1F5C121C417E}"/>
                  </a:ext>
                </a:extLst>
              </p:cNvPr>
              <p:cNvSpPr txBox="1"/>
              <p:nvPr/>
            </p:nvSpPr>
            <p:spPr>
              <a:xfrm>
                <a:off x="4391174" y="5402824"/>
                <a:ext cx="4067267" cy="10985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−&amp;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44BBBE-5677-3792-A0FA-1F5C121C4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174" y="5402824"/>
                <a:ext cx="4067267" cy="10985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6E9390-4A7C-B3B4-E9B2-FD768A486B93}"/>
                  </a:ext>
                </a:extLst>
              </p:cNvPr>
              <p:cNvSpPr txBox="1"/>
              <p:nvPr/>
            </p:nvSpPr>
            <p:spPr>
              <a:xfrm>
                <a:off x="9042776" y="5705855"/>
                <a:ext cx="198336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6E9390-4A7C-B3B4-E9B2-FD768A486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776" y="5705855"/>
                <a:ext cx="1983363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0C53EF-D738-F0F3-A9DC-9AB54CA72C74}"/>
                  </a:ext>
                </a:extLst>
              </p:cNvPr>
              <p:cNvSpPr txBox="1"/>
              <p:nvPr/>
            </p:nvSpPr>
            <p:spPr>
              <a:xfrm>
                <a:off x="1655641" y="4815008"/>
                <a:ext cx="166141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ℕ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ℕ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0C53EF-D738-F0F3-A9DC-9AB54CA72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641" y="4815008"/>
                <a:ext cx="1661416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6D0E10-BDD7-A6FB-FE3D-9033D22E78E5}"/>
                  </a:ext>
                </a:extLst>
              </p:cNvPr>
              <p:cNvSpPr txBox="1"/>
              <p:nvPr/>
            </p:nvSpPr>
            <p:spPr>
              <a:xfrm>
                <a:off x="5618144" y="4815008"/>
                <a:ext cx="161332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ℤ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ℕ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6D0E10-BDD7-A6FB-FE3D-9033D22E7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144" y="4815008"/>
                <a:ext cx="1613326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CE46CA-A6B1-E11D-B0AA-4F80533224E8}"/>
                  </a:ext>
                </a:extLst>
              </p:cNvPr>
              <p:cNvSpPr txBox="1"/>
              <p:nvPr/>
            </p:nvSpPr>
            <p:spPr>
              <a:xfrm>
                <a:off x="9116866" y="4815008"/>
                <a:ext cx="183518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ℕ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CE46CA-A6B1-E11D-B0AA-4F8053322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6866" y="4815008"/>
                <a:ext cx="1835181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567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CF160-1DB7-5725-0EE5-A8D039D7B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DBEB4-E3F8-6906-5F93-D95B694B2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Counting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14">
                <a:extLst>
                  <a:ext uri="{FF2B5EF4-FFF2-40B4-BE49-F238E27FC236}">
                    <a16:creationId xmlns:a16="http://schemas.microsoft.com/office/drawing/2014/main" id="{0BFBAD3E-50BE-10EA-1108-309FDA5DD6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287439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0" dirty="0">
                    <a:cs typeface="Arial" panose="020B0604020202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be sets. The number of functions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𝐴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Note: this is the reason why the powerset is sometimes denoted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!</a:t>
                </a:r>
              </a:p>
            </p:txBody>
          </p:sp>
        </mc:Choice>
        <mc:Fallback xmlns="">
          <p:sp>
            <p:nvSpPr>
              <p:cNvPr id="4" name="Content Placeholder 14">
                <a:extLst>
                  <a:ext uri="{FF2B5EF4-FFF2-40B4-BE49-F238E27FC236}">
                    <a16:creationId xmlns:a16="http://schemas.microsoft.com/office/drawing/2014/main" id="{0BFBAD3E-50BE-10EA-1108-309FDA5DD6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2874391"/>
              </a:xfrm>
              <a:blipFill>
                <a:blip r:embed="rId2"/>
                <a:stretch>
                  <a:fillRect l="-1205" t="-3390" r="-2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9664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A6A3B-3C05-DD4C-4C1B-8A3F7982A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15AFB-69A7-F2B8-6F4E-368BB14C2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Inverse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E8809229-19B1-BF13-C18A-7BB0679979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3255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Definition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be a function, the inverse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’s relational inverse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𝑎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 We call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the 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inverse function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if and only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function.</a:t>
                </a:r>
              </a:p>
            </p:txBody>
          </p:sp>
        </mc:Choice>
        <mc:Fallback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E8809229-19B1-BF13-C18A-7BB0679979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325563"/>
              </a:xfrm>
              <a:blipFill>
                <a:blip r:embed="rId2"/>
                <a:stretch>
                  <a:fillRect l="-1217" t="-7798" b="-6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9C123E-A305-A3F6-D95B-801724909B01}"/>
                  </a:ext>
                </a:extLst>
              </p:cNvPr>
              <p:cNvSpPr txBox="1"/>
              <p:nvPr/>
            </p:nvSpPr>
            <p:spPr>
              <a:xfrm>
                <a:off x="1396013" y="3854449"/>
                <a:ext cx="260090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9C123E-A305-A3F6-D95B-801724909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013" y="3854449"/>
                <a:ext cx="2600905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3EF52B8-2451-A648-31BF-1BF33707C409}"/>
                  </a:ext>
                </a:extLst>
              </p:cNvPr>
              <p:cNvSpPr txBox="1"/>
              <p:nvPr/>
            </p:nvSpPr>
            <p:spPr>
              <a:xfrm>
                <a:off x="1138427" y="4911439"/>
                <a:ext cx="2794483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3EF52B8-2451-A648-31BF-1BF33707C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427" y="4911439"/>
                <a:ext cx="2794483" cy="9251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D5D8BEC-BFE0-1E94-406F-CFCD09FA76D9}"/>
              </a:ext>
            </a:extLst>
          </p:cNvPr>
          <p:cNvSpPr txBox="1"/>
          <p:nvPr/>
        </p:nvSpPr>
        <p:spPr>
          <a:xfrm>
            <a:off x="4030713" y="4254764"/>
            <a:ext cx="7018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accent6"/>
                </a:solidFill>
              </a:rPr>
              <a:t>✓</a:t>
            </a:r>
            <a:endParaRPr lang="en-US" sz="3200" b="1" dirty="0">
              <a:solidFill>
                <a:schemeClr val="accent6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0F6DA1-BB5B-DF79-7A5A-13104B251F5C}"/>
              </a:ext>
            </a:extLst>
          </p:cNvPr>
          <p:cNvSpPr txBox="1"/>
          <p:nvPr/>
        </p:nvSpPr>
        <p:spPr>
          <a:xfrm>
            <a:off x="10702672" y="4408653"/>
            <a:ext cx="7018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1D35"/>
                </a:solidFill>
                <a:effectLst/>
                <a:latin typeface="Google Sans"/>
              </a:rPr>
              <a:t>❌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6CDB55-F1B7-5EA8-6F83-1362A7EBBF07}"/>
                  </a:ext>
                </a:extLst>
              </p:cNvPr>
              <p:cNvSpPr txBox="1"/>
              <p:nvPr/>
            </p:nvSpPr>
            <p:spPr>
              <a:xfrm>
                <a:off x="6407095" y="3577451"/>
                <a:ext cx="4067267" cy="10985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−&amp;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6CDB55-F1B7-5EA8-6F83-1362A7EBB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7095" y="3577451"/>
                <a:ext cx="4067267" cy="10985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BC9E1B6-6E35-6A20-1374-FC30437C2350}"/>
                  </a:ext>
                </a:extLst>
              </p:cNvPr>
              <p:cNvSpPr txBox="1"/>
              <p:nvPr/>
            </p:nvSpPr>
            <p:spPr>
              <a:xfrm>
                <a:off x="5532120" y="4911438"/>
                <a:ext cx="5521453" cy="9551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=∪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ℕ</m:t>
                                </m:r>
                              </m:e>
                            </m:d>
                          </m:e>
                        </m:mr>
                        <m:m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,−</m:t>
                                    </m:r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ℕ</m:t>
                                </m:r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BC9E1B6-6E35-6A20-1374-FC30437C2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2120" y="4911438"/>
                <a:ext cx="5521453" cy="9551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8475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C7C13-CB56-D11E-7343-37F3FC4A0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96044-B28B-0CA6-2C28-DFD93F47E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One-to-one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14">
                <a:extLst>
                  <a:ext uri="{FF2B5EF4-FFF2-40B4-BE49-F238E27FC236}">
                    <a16:creationId xmlns:a16="http://schemas.microsoft.com/office/drawing/2014/main" id="{0A718F73-3D38-3553-C94B-37A938E4CC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42049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Definition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called 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one-to-one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if and only if whenever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Note: some call one-to-one functions injective.</a:t>
                </a:r>
              </a:p>
            </p:txBody>
          </p:sp>
        </mc:Choice>
        <mc:Fallback>
          <p:sp>
            <p:nvSpPr>
              <p:cNvPr id="4" name="Content Placeholder 14">
                <a:extLst>
                  <a:ext uri="{FF2B5EF4-FFF2-40B4-BE49-F238E27FC236}">
                    <a16:creationId xmlns:a16="http://schemas.microsoft.com/office/drawing/2014/main" id="{0A718F73-3D38-3553-C94B-37A938E4CC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420495"/>
              </a:xfrm>
              <a:blipFill>
                <a:blip r:embed="rId2"/>
                <a:stretch>
                  <a:fillRect l="-1217" t="-7265" b="-8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15EFAAFE-D523-3CA2-333C-5276C44396CC}"/>
              </a:ext>
            </a:extLst>
          </p:cNvPr>
          <p:cNvGrpSpPr/>
          <p:nvPr/>
        </p:nvGrpSpPr>
        <p:grpSpPr>
          <a:xfrm>
            <a:off x="1837944" y="3290507"/>
            <a:ext cx="2081785" cy="2854262"/>
            <a:chOff x="1837944" y="3290507"/>
            <a:chExt cx="2081785" cy="285426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2F91B43-F804-B334-B668-753053092B35}"/>
                </a:ext>
              </a:extLst>
            </p:cNvPr>
            <p:cNvSpPr/>
            <p:nvPr/>
          </p:nvSpPr>
          <p:spPr>
            <a:xfrm>
              <a:off x="1837944" y="3895345"/>
              <a:ext cx="393192" cy="2249424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4A1D69B-BC23-A00D-49BD-940A4DFDEFF9}"/>
                </a:ext>
              </a:extLst>
            </p:cNvPr>
            <p:cNvSpPr txBox="1"/>
            <p:nvPr/>
          </p:nvSpPr>
          <p:spPr>
            <a:xfrm>
              <a:off x="1880491" y="4004394"/>
              <a:ext cx="308098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  <a:p>
              <a:r>
                <a:rPr lang="en-US" dirty="0"/>
                <a:t>2</a:t>
              </a:r>
            </a:p>
            <a:p>
              <a:r>
                <a:rPr lang="en-US" dirty="0"/>
                <a:t>3</a:t>
              </a:r>
            </a:p>
            <a:p>
              <a:r>
                <a:rPr lang="en-US" dirty="0"/>
                <a:t>4</a:t>
              </a:r>
            </a:p>
            <a:p>
              <a:r>
                <a:rPr lang="en-US" dirty="0"/>
                <a:t>5</a:t>
              </a:r>
            </a:p>
            <a:p>
              <a:r>
                <a:rPr lang="en-US" dirty="0"/>
                <a:t>6</a:t>
              </a:r>
            </a:p>
            <a:p>
              <a:r>
                <a:rPr lang="en-US" dirty="0"/>
                <a:t>7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DFE05C2-F0FD-79D0-E93B-A49856DCB96F}"/>
                    </a:ext>
                  </a:extLst>
                </p:cNvPr>
                <p:cNvSpPr txBox="1"/>
                <p:nvPr/>
              </p:nvSpPr>
              <p:spPr>
                <a:xfrm>
                  <a:off x="1837944" y="3290507"/>
                  <a:ext cx="39319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oMath>
                    </m:oMathPara>
                  </a14:m>
                  <a:endParaRPr lang="en-US" sz="28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DFE05C2-F0FD-79D0-E93B-A49856DCB9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7944" y="3290507"/>
                  <a:ext cx="393193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09524E3-778C-3409-FA7E-E1A9916F3FF5}"/>
                </a:ext>
              </a:extLst>
            </p:cNvPr>
            <p:cNvSpPr/>
            <p:nvPr/>
          </p:nvSpPr>
          <p:spPr>
            <a:xfrm>
              <a:off x="3526536" y="3895345"/>
              <a:ext cx="393192" cy="2249424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F131642-AB6A-6A21-53BF-4BFE19759D34}"/>
                </a:ext>
              </a:extLst>
            </p:cNvPr>
            <p:cNvSpPr txBox="1"/>
            <p:nvPr/>
          </p:nvSpPr>
          <p:spPr>
            <a:xfrm>
              <a:off x="3569083" y="4004394"/>
              <a:ext cx="308098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  <a:p>
              <a:r>
                <a:rPr lang="en-US" dirty="0"/>
                <a:t>2</a:t>
              </a:r>
            </a:p>
            <a:p>
              <a:r>
                <a:rPr lang="en-US" dirty="0"/>
                <a:t>3</a:t>
              </a:r>
            </a:p>
            <a:p>
              <a:r>
                <a:rPr lang="en-US" dirty="0"/>
                <a:t>4</a:t>
              </a:r>
            </a:p>
            <a:p>
              <a:r>
                <a:rPr lang="en-US" dirty="0"/>
                <a:t>5</a:t>
              </a:r>
            </a:p>
            <a:p>
              <a:r>
                <a:rPr lang="en-US" dirty="0"/>
                <a:t>6</a:t>
              </a:r>
            </a:p>
            <a:p>
              <a:r>
                <a:rPr lang="en-US" dirty="0"/>
                <a:t>7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9DFBBAF-B078-979C-5775-8F17F5A02D63}"/>
                    </a:ext>
                  </a:extLst>
                </p:cNvPr>
                <p:cNvSpPr txBox="1"/>
                <p:nvPr/>
              </p:nvSpPr>
              <p:spPr>
                <a:xfrm>
                  <a:off x="3526536" y="3290507"/>
                  <a:ext cx="39319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𝐵</m:t>
                        </m:r>
                      </m:oMath>
                    </m:oMathPara>
                  </a14:m>
                  <a:endParaRPr lang="en-US" sz="28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9DFBBAF-B078-979C-5775-8F17F5A02D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6536" y="3290507"/>
                  <a:ext cx="393193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1188C59-B91C-914C-3B85-E39C5B5F427E}"/>
                    </a:ext>
                  </a:extLst>
                </p:cNvPr>
                <p:cNvSpPr txBox="1"/>
                <p:nvPr/>
              </p:nvSpPr>
              <p:spPr>
                <a:xfrm>
                  <a:off x="2682240" y="3290507"/>
                  <a:ext cx="39319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oMath>
                    </m:oMathPara>
                  </a14:m>
                  <a:endParaRPr lang="en-US" sz="28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1188C59-B91C-914C-3B85-E39C5B5F42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2240" y="3290507"/>
                  <a:ext cx="393192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4621912-CC30-9472-B6E4-CFF0C0A688D0}"/>
                </a:ext>
              </a:extLst>
            </p:cNvPr>
            <p:cNvCxnSpPr>
              <a:cxnSpLocks/>
            </p:cNvCxnSpPr>
            <p:nvPr/>
          </p:nvCxnSpPr>
          <p:spPr>
            <a:xfrm>
              <a:off x="2124581" y="4197096"/>
              <a:ext cx="1514731" cy="5425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1A45651-95C9-A403-1624-58D9E7006E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4581" y="4197096"/>
              <a:ext cx="1514731" cy="2621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03E868B-7493-8353-69F1-69E7432AEE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0009" y="4468368"/>
              <a:ext cx="1449074" cy="2712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7208C79-B33D-1200-57C4-3AC50A4C96A9}"/>
                </a:ext>
              </a:extLst>
            </p:cNvPr>
            <p:cNvCxnSpPr>
              <a:cxnSpLocks/>
            </p:cNvCxnSpPr>
            <p:nvPr/>
          </p:nvCxnSpPr>
          <p:spPr>
            <a:xfrm>
              <a:off x="2120009" y="5020056"/>
              <a:ext cx="1517904" cy="54635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80AE0D1-121D-5A83-2D65-21952F67EB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0009" y="5252043"/>
              <a:ext cx="1519303" cy="392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BD32BC8-9425-D5D1-4378-27AAB050B663}"/>
                </a:ext>
              </a:extLst>
            </p:cNvPr>
            <p:cNvCxnSpPr>
              <a:cxnSpLocks/>
            </p:cNvCxnSpPr>
            <p:nvPr/>
          </p:nvCxnSpPr>
          <p:spPr>
            <a:xfrm>
              <a:off x="2120009" y="5530935"/>
              <a:ext cx="1517904" cy="3029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BCCDF61-D790-90A2-751C-63837E9694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41283" y="5010913"/>
              <a:ext cx="1500952" cy="82295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814B9BA-7135-B13D-02DC-CE631086A1E4}"/>
              </a:ext>
            </a:extLst>
          </p:cNvPr>
          <p:cNvGrpSpPr/>
          <p:nvPr/>
        </p:nvGrpSpPr>
        <p:grpSpPr>
          <a:xfrm>
            <a:off x="7385431" y="3290507"/>
            <a:ext cx="2081785" cy="2854262"/>
            <a:chOff x="7385431" y="3290507"/>
            <a:chExt cx="2081785" cy="2854262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358B3BA1-E1DE-728C-07A5-26C92BA0B0A1}"/>
                </a:ext>
              </a:extLst>
            </p:cNvPr>
            <p:cNvSpPr/>
            <p:nvPr/>
          </p:nvSpPr>
          <p:spPr>
            <a:xfrm>
              <a:off x="7385431" y="3895345"/>
              <a:ext cx="393192" cy="2249424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B7FB41D-2BB0-C9D8-E167-C91CCB3E9101}"/>
                </a:ext>
              </a:extLst>
            </p:cNvPr>
            <p:cNvSpPr txBox="1"/>
            <p:nvPr/>
          </p:nvSpPr>
          <p:spPr>
            <a:xfrm>
              <a:off x="7427978" y="4004394"/>
              <a:ext cx="308098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  <a:p>
              <a:r>
                <a:rPr lang="en-US" dirty="0"/>
                <a:t>2</a:t>
              </a:r>
            </a:p>
            <a:p>
              <a:r>
                <a:rPr lang="en-US" dirty="0"/>
                <a:t>3</a:t>
              </a:r>
            </a:p>
            <a:p>
              <a:r>
                <a:rPr lang="en-US" dirty="0"/>
                <a:t>4</a:t>
              </a:r>
            </a:p>
            <a:p>
              <a:r>
                <a:rPr lang="en-US" dirty="0"/>
                <a:t>5</a:t>
              </a:r>
            </a:p>
            <a:p>
              <a:r>
                <a:rPr lang="en-US" dirty="0"/>
                <a:t>6</a:t>
              </a:r>
            </a:p>
            <a:p>
              <a:r>
                <a:rPr lang="en-US" dirty="0"/>
                <a:t>7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0E633EAA-2949-68A7-6364-DE949B0F7BA6}"/>
                    </a:ext>
                  </a:extLst>
                </p:cNvPr>
                <p:cNvSpPr txBox="1"/>
                <p:nvPr/>
              </p:nvSpPr>
              <p:spPr>
                <a:xfrm>
                  <a:off x="7385431" y="3290507"/>
                  <a:ext cx="39319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oMath>
                    </m:oMathPara>
                  </a14:m>
                  <a:endParaRPr lang="en-US" sz="28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0E633EAA-2949-68A7-6364-DE949B0F7B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5431" y="3290507"/>
                  <a:ext cx="393193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D51EB2E6-DAC3-FDD0-8A6A-60C5DC33AF0D}"/>
                </a:ext>
              </a:extLst>
            </p:cNvPr>
            <p:cNvSpPr/>
            <p:nvPr/>
          </p:nvSpPr>
          <p:spPr>
            <a:xfrm>
              <a:off x="9074023" y="3895345"/>
              <a:ext cx="393192" cy="2249424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010B643-455E-A1F6-5DD5-0A3522DFB938}"/>
                </a:ext>
              </a:extLst>
            </p:cNvPr>
            <p:cNvSpPr txBox="1"/>
            <p:nvPr/>
          </p:nvSpPr>
          <p:spPr>
            <a:xfrm>
              <a:off x="9116570" y="4004394"/>
              <a:ext cx="308098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  <a:p>
              <a:r>
                <a:rPr lang="en-US" dirty="0"/>
                <a:t>2</a:t>
              </a:r>
            </a:p>
            <a:p>
              <a:r>
                <a:rPr lang="en-US" dirty="0"/>
                <a:t>3</a:t>
              </a:r>
            </a:p>
            <a:p>
              <a:r>
                <a:rPr lang="en-US" dirty="0"/>
                <a:t>4</a:t>
              </a:r>
            </a:p>
            <a:p>
              <a:r>
                <a:rPr lang="en-US" dirty="0"/>
                <a:t>5</a:t>
              </a:r>
            </a:p>
            <a:p>
              <a:r>
                <a:rPr lang="en-US" dirty="0"/>
                <a:t>6</a:t>
              </a:r>
            </a:p>
            <a:p>
              <a:r>
                <a:rPr lang="en-US" dirty="0"/>
                <a:t>7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0EC7D94-A1B3-EB22-1F6F-66045B90E53B}"/>
                    </a:ext>
                  </a:extLst>
                </p:cNvPr>
                <p:cNvSpPr txBox="1"/>
                <p:nvPr/>
              </p:nvSpPr>
              <p:spPr>
                <a:xfrm>
                  <a:off x="9074023" y="3290507"/>
                  <a:ext cx="39319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𝐵</m:t>
                        </m:r>
                      </m:oMath>
                    </m:oMathPara>
                  </a14:m>
                  <a:endParaRPr lang="en-US" sz="28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0EC7D94-A1B3-EB22-1F6F-66045B90E5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4023" y="3290507"/>
                  <a:ext cx="393193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77E72D2F-8A82-76C2-DE8B-DE7FF1D521DE}"/>
                    </a:ext>
                  </a:extLst>
                </p:cNvPr>
                <p:cNvSpPr txBox="1"/>
                <p:nvPr/>
              </p:nvSpPr>
              <p:spPr>
                <a:xfrm>
                  <a:off x="8229727" y="3290507"/>
                  <a:ext cx="39319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oMath>
                    </m:oMathPara>
                  </a14:m>
                  <a:endParaRPr lang="en-US" sz="28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77E72D2F-8A82-76C2-DE8B-DE7FF1D521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727" y="3290507"/>
                  <a:ext cx="393192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ABAEBC5B-5D2C-206E-1474-94CDD07750C2}"/>
                </a:ext>
              </a:extLst>
            </p:cNvPr>
            <p:cNvCxnSpPr>
              <a:cxnSpLocks/>
            </p:cNvCxnSpPr>
            <p:nvPr/>
          </p:nvCxnSpPr>
          <p:spPr>
            <a:xfrm>
              <a:off x="7672068" y="4197096"/>
              <a:ext cx="1514731" cy="5425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AD18D6B-1C51-674A-50B1-0D457BFD5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2068" y="4197096"/>
              <a:ext cx="1514731" cy="2621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7E286F12-FD84-10BF-6DD2-A8D3C4082E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7496" y="4468368"/>
              <a:ext cx="1449074" cy="2712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45D23A6-5E01-19F4-D125-8B81D5614264}"/>
                </a:ext>
              </a:extLst>
            </p:cNvPr>
            <p:cNvCxnSpPr>
              <a:cxnSpLocks/>
            </p:cNvCxnSpPr>
            <p:nvPr/>
          </p:nvCxnSpPr>
          <p:spPr>
            <a:xfrm>
              <a:off x="7667496" y="5020056"/>
              <a:ext cx="1519303" cy="23198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80DC86FC-4764-548F-4D81-7E87EB22F3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7496" y="5252043"/>
              <a:ext cx="1519303" cy="392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A0E7A8DA-42E1-94B8-3A06-647F50159D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7496" y="5020056"/>
              <a:ext cx="1517904" cy="5108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FB6C29CE-432A-78E1-32CA-EFE509D32D03}"/>
                </a:ext>
              </a:extLst>
            </p:cNvPr>
            <p:cNvCxnSpPr>
              <a:cxnSpLocks/>
            </p:cNvCxnSpPr>
            <p:nvPr/>
          </p:nvCxnSpPr>
          <p:spPr>
            <a:xfrm>
              <a:off x="7667496" y="5833872"/>
              <a:ext cx="13804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76152382-CC70-6119-06A6-8CEBE84E6315}"/>
              </a:ext>
            </a:extLst>
          </p:cNvPr>
          <p:cNvSpPr txBox="1"/>
          <p:nvPr/>
        </p:nvSpPr>
        <p:spPr>
          <a:xfrm>
            <a:off x="4203510" y="4516373"/>
            <a:ext cx="7018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accent6"/>
                </a:solidFill>
              </a:rPr>
              <a:t>✓</a:t>
            </a:r>
            <a:endParaRPr lang="en-US" sz="3200" b="1" dirty="0">
              <a:solidFill>
                <a:schemeClr val="accent6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2FAE97-70DE-1084-6C26-5E4DB7E6348C}"/>
              </a:ext>
            </a:extLst>
          </p:cNvPr>
          <p:cNvSpPr txBox="1"/>
          <p:nvPr/>
        </p:nvSpPr>
        <p:spPr>
          <a:xfrm>
            <a:off x="9870568" y="4670262"/>
            <a:ext cx="7018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1D35"/>
                </a:solidFill>
                <a:effectLst/>
                <a:latin typeface="Google Sans"/>
              </a:rPr>
              <a:t>❌</a:t>
            </a:r>
            <a:endParaRPr lang="en-US" sz="2800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E627FC9-251E-AE07-C0C8-4A010BCE478E}"/>
              </a:ext>
            </a:extLst>
          </p:cNvPr>
          <p:cNvCxnSpPr>
            <a:cxnSpLocks/>
          </p:cNvCxnSpPr>
          <p:nvPr/>
        </p:nvCxnSpPr>
        <p:spPr>
          <a:xfrm>
            <a:off x="7694228" y="5029200"/>
            <a:ext cx="1519303" cy="2319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2EA9DBC-0755-C9A4-4980-EE81D4B9B658}"/>
              </a:ext>
            </a:extLst>
          </p:cNvPr>
          <p:cNvCxnSpPr>
            <a:cxnSpLocks/>
          </p:cNvCxnSpPr>
          <p:nvPr/>
        </p:nvCxnSpPr>
        <p:spPr>
          <a:xfrm flipV="1">
            <a:off x="7694228" y="5261187"/>
            <a:ext cx="1519303" cy="3928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97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AF24A-AF56-B0DA-390E-C51A95895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71F13-2BBD-2E10-7BFD-5975A0C77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One-to-one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14">
                <a:extLst>
                  <a:ext uri="{FF2B5EF4-FFF2-40B4-BE49-F238E27FC236}">
                    <a16:creationId xmlns:a16="http://schemas.microsoft.com/office/drawing/2014/main" id="{55A3485C-BB5D-6650-5AFB-E458E2607C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53275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Proposition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be a function,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is a function if and only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one-to-one.</a:t>
                </a: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Proposition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be functions. If for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dom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dom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are the inverse of each other (i.e.,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Content Placeholder 14">
                <a:extLst>
                  <a:ext uri="{FF2B5EF4-FFF2-40B4-BE49-F238E27FC236}">
                    <a16:creationId xmlns:a16="http://schemas.microsoft.com/office/drawing/2014/main" id="{55A3485C-BB5D-6650-5AFB-E458E2607C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532759"/>
              </a:xfrm>
              <a:blipFill>
                <a:blip r:embed="rId2"/>
                <a:stretch>
                  <a:fillRect l="-1217" t="-2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5990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73859-1AE4-7096-17A2-67D8E4EBA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37C80-4137-4286-FD4B-33E8EBB05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89FA0F53-301E-F70D-90AF-5F31D615B3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53275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Definition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</m:oMath>
                </a14:m>
                <a:r>
                  <a:rPr lang="en-US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</m:oMath>
                </a14:m>
                <a:r>
                  <a:rPr lang="en-US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</m:oMath>
                </a14:m>
                <a:r>
                  <a:rPr lang="en-US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is </a:t>
                </a:r>
                <a:r>
                  <a:rPr lang="en-US" b="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onto</a:t>
                </a:r>
                <a:r>
                  <a:rPr lang="en-US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if and only if for 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</m:oMath>
                </a14:m>
                <a:r>
                  <a:rPr lang="en-US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there is some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</m:oMath>
                </a14:m>
                <a:r>
                  <a:rPr lang="en-US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Note: some call onto functions surjective.</a:t>
                </a:r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89FA0F53-301E-F70D-90AF-5F31D615B3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532759"/>
              </a:xfrm>
              <a:blipFill>
                <a:blip r:embed="rId2"/>
                <a:stretch>
                  <a:fillRect l="-1217" t="-2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AAA5F927-8214-68A5-9FEC-8499991B3708}"/>
              </a:ext>
            </a:extLst>
          </p:cNvPr>
          <p:cNvGrpSpPr/>
          <p:nvPr/>
        </p:nvGrpSpPr>
        <p:grpSpPr>
          <a:xfrm>
            <a:off x="1837944" y="3290507"/>
            <a:ext cx="2081785" cy="2854262"/>
            <a:chOff x="1837944" y="3290507"/>
            <a:chExt cx="2081785" cy="285426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49484ED-2BD2-0A2C-9B95-F37C266D7B60}"/>
                </a:ext>
              </a:extLst>
            </p:cNvPr>
            <p:cNvSpPr/>
            <p:nvPr/>
          </p:nvSpPr>
          <p:spPr>
            <a:xfrm>
              <a:off x="1837944" y="3895345"/>
              <a:ext cx="393192" cy="2249424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9947D5A-6C9E-9388-EFD2-4E7C8F33686C}"/>
                </a:ext>
              </a:extLst>
            </p:cNvPr>
            <p:cNvSpPr txBox="1"/>
            <p:nvPr/>
          </p:nvSpPr>
          <p:spPr>
            <a:xfrm>
              <a:off x="1880491" y="4004394"/>
              <a:ext cx="308098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  <a:p>
              <a:r>
                <a:rPr lang="en-US" dirty="0"/>
                <a:t>2</a:t>
              </a:r>
            </a:p>
            <a:p>
              <a:r>
                <a:rPr lang="en-US" dirty="0"/>
                <a:t>3</a:t>
              </a:r>
            </a:p>
            <a:p>
              <a:r>
                <a:rPr lang="en-US" dirty="0"/>
                <a:t>4</a:t>
              </a:r>
            </a:p>
            <a:p>
              <a:r>
                <a:rPr lang="en-US" dirty="0"/>
                <a:t>5</a:t>
              </a:r>
            </a:p>
            <a:p>
              <a:r>
                <a:rPr lang="en-US" dirty="0"/>
                <a:t>6</a:t>
              </a:r>
            </a:p>
            <a:p>
              <a:r>
                <a:rPr lang="en-US" dirty="0"/>
                <a:t>7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F0A94FC-0384-2C6C-E41A-097FB5C5FABA}"/>
                    </a:ext>
                  </a:extLst>
                </p:cNvPr>
                <p:cNvSpPr txBox="1"/>
                <p:nvPr/>
              </p:nvSpPr>
              <p:spPr>
                <a:xfrm>
                  <a:off x="1837944" y="3290507"/>
                  <a:ext cx="39319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oMath>
                    </m:oMathPara>
                  </a14:m>
                  <a:endParaRPr lang="en-US" sz="28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F0A94FC-0384-2C6C-E41A-097FB5C5FA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7944" y="3290507"/>
                  <a:ext cx="393193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37C63E2-F028-B0CA-9DE0-E4365FD35DF7}"/>
                </a:ext>
              </a:extLst>
            </p:cNvPr>
            <p:cNvSpPr/>
            <p:nvPr/>
          </p:nvSpPr>
          <p:spPr>
            <a:xfrm>
              <a:off x="3526536" y="3895345"/>
              <a:ext cx="393192" cy="2249424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ADC99E4-A4C4-2B08-320C-C4DE67628CA7}"/>
                </a:ext>
              </a:extLst>
            </p:cNvPr>
            <p:cNvSpPr txBox="1"/>
            <p:nvPr/>
          </p:nvSpPr>
          <p:spPr>
            <a:xfrm>
              <a:off x="3569083" y="4004394"/>
              <a:ext cx="308098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  <a:p>
              <a:r>
                <a:rPr lang="en-US" dirty="0"/>
                <a:t>2</a:t>
              </a:r>
            </a:p>
            <a:p>
              <a:r>
                <a:rPr lang="en-US" dirty="0"/>
                <a:t>3</a:t>
              </a:r>
            </a:p>
            <a:p>
              <a:r>
                <a:rPr lang="en-US" dirty="0"/>
                <a:t>4</a:t>
              </a:r>
            </a:p>
            <a:p>
              <a:r>
                <a:rPr lang="en-US" dirty="0"/>
                <a:t>5</a:t>
              </a:r>
            </a:p>
            <a:p>
              <a:r>
                <a:rPr lang="en-US" dirty="0"/>
                <a:t>6</a:t>
              </a:r>
            </a:p>
            <a:p>
              <a:r>
                <a:rPr lang="en-US" dirty="0"/>
                <a:t>7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8DCFAF3-4512-F898-F583-567B0920B760}"/>
                    </a:ext>
                  </a:extLst>
                </p:cNvPr>
                <p:cNvSpPr txBox="1"/>
                <p:nvPr/>
              </p:nvSpPr>
              <p:spPr>
                <a:xfrm>
                  <a:off x="3526536" y="3290507"/>
                  <a:ext cx="39319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𝐵</m:t>
                        </m:r>
                      </m:oMath>
                    </m:oMathPara>
                  </a14:m>
                  <a:endParaRPr lang="en-US" sz="28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8DCFAF3-4512-F898-F583-567B0920B7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6536" y="3290507"/>
                  <a:ext cx="393193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F2A5820-EE9E-7722-428B-1AF92C70AF3D}"/>
                    </a:ext>
                  </a:extLst>
                </p:cNvPr>
                <p:cNvSpPr txBox="1"/>
                <p:nvPr/>
              </p:nvSpPr>
              <p:spPr>
                <a:xfrm>
                  <a:off x="2682240" y="3290507"/>
                  <a:ext cx="39319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oMath>
                    </m:oMathPara>
                  </a14:m>
                  <a:endParaRPr lang="en-US" sz="28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F2A5820-EE9E-7722-428B-1AF92C70AF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2240" y="3290507"/>
                  <a:ext cx="393192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3D8BED2-B753-D213-D9F9-1CAC0866D2A7}"/>
                </a:ext>
              </a:extLst>
            </p:cNvPr>
            <p:cNvCxnSpPr>
              <a:cxnSpLocks/>
            </p:cNvCxnSpPr>
            <p:nvPr/>
          </p:nvCxnSpPr>
          <p:spPr>
            <a:xfrm>
              <a:off x="2124581" y="4197096"/>
              <a:ext cx="1514731" cy="5425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DB8D29C-464E-3060-AFD7-06BF730397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4581" y="4197096"/>
              <a:ext cx="1514731" cy="2621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1885367-5D58-37AE-0035-EB0FEC2F7C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0009" y="4468368"/>
              <a:ext cx="1449074" cy="2712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3F77315-C79A-155C-3D37-1D2FDCD9D9D6}"/>
                </a:ext>
              </a:extLst>
            </p:cNvPr>
            <p:cNvCxnSpPr>
              <a:cxnSpLocks/>
            </p:cNvCxnSpPr>
            <p:nvPr/>
          </p:nvCxnSpPr>
          <p:spPr>
            <a:xfrm>
              <a:off x="2120009" y="5020056"/>
              <a:ext cx="1517904" cy="54635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A48B039-5E84-9485-D01C-59C0CB8F9D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0009" y="5252043"/>
              <a:ext cx="1519303" cy="392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3DA248B-6568-CDF8-A764-28EA56BD3808}"/>
                </a:ext>
              </a:extLst>
            </p:cNvPr>
            <p:cNvCxnSpPr>
              <a:cxnSpLocks/>
            </p:cNvCxnSpPr>
            <p:nvPr/>
          </p:nvCxnSpPr>
          <p:spPr>
            <a:xfrm>
              <a:off x="2120009" y="5530935"/>
              <a:ext cx="1517904" cy="3029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D697C98-DFD4-CE51-C3FA-E407F7991F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41283" y="5010913"/>
              <a:ext cx="1500952" cy="82295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355D64F-573C-443A-D5A4-B97324E3BEBE}"/>
              </a:ext>
            </a:extLst>
          </p:cNvPr>
          <p:cNvGrpSpPr/>
          <p:nvPr/>
        </p:nvGrpSpPr>
        <p:grpSpPr>
          <a:xfrm>
            <a:off x="7385431" y="3290507"/>
            <a:ext cx="2081785" cy="2854262"/>
            <a:chOff x="7385431" y="3290507"/>
            <a:chExt cx="2081785" cy="2854262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9552C882-D6E0-35F3-BF29-0B6CD089B5DD}"/>
                </a:ext>
              </a:extLst>
            </p:cNvPr>
            <p:cNvSpPr/>
            <p:nvPr/>
          </p:nvSpPr>
          <p:spPr>
            <a:xfrm>
              <a:off x="7385431" y="3895345"/>
              <a:ext cx="393192" cy="2249424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B75BCA7-1C29-BD9E-7AF8-2CD828AEA487}"/>
                </a:ext>
              </a:extLst>
            </p:cNvPr>
            <p:cNvSpPr txBox="1"/>
            <p:nvPr/>
          </p:nvSpPr>
          <p:spPr>
            <a:xfrm>
              <a:off x="7427978" y="4004394"/>
              <a:ext cx="308098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  <a:p>
              <a:r>
                <a:rPr lang="en-US" dirty="0"/>
                <a:t>2</a:t>
              </a:r>
            </a:p>
            <a:p>
              <a:r>
                <a:rPr lang="en-US" dirty="0"/>
                <a:t>3</a:t>
              </a:r>
            </a:p>
            <a:p>
              <a:r>
                <a:rPr lang="en-US" dirty="0"/>
                <a:t>4</a:t>
              </a:r>
            </a:p>
            <a:p>
              <a:r>
                <a:rPr lang="en-US" dirty="0"/>
                <a:t>5</a:t>
              </a:r>
            </a:p>
            <a:p>
              <a:r>
                <a:rPr lang="en-US" dirty="0"/>
                <a:t>6</a:t>
              </a:r>
            </a:p>
            <a:p>
              <a:r>
                <a:rPr lang="en-US" dirty="0"/>
                <a:t>7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8828BF3-86EA-C401-2026-4392477F2D16}"/>
                    </a:ext>
                  </a:extLst>
                </p:cNvPr>
                <p:cNvSpPr txBox="1"/>
                <p:nvPr/>
              </p:nvSpPr>
              <p:spPr>
                <a:xfrm>
                  <a:off x="7385431" y="3290507"/>
                  <a:ext cx="39319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oMath>
                    </m:oMathPara>
                  </a14:m>
                  <a:endParaRPr lang="en-US" sz="28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8828BF3-86EA-C401-2026-4392477F2D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5431" y="3290507"/>
                  <a:ext cx="393193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11F2F066-1F28-6FC5-D055-30311F863044}"/>
                </a:ext>
              </a:extLst>
            </p:cNvPr>
            <p:cNvSpPr/>
            <p:nvPr/>
          </p:nvSpPr>
          <p:spPr>
            <a:xfrm>
              <a:off x="9074023" y="3895345"/>
              <a:ext cx="393192" cy="2249424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BFFFA44-BFE3-02B3-AC0A-242ADE53098A}"/>
                </a:ext>
              </a:extLst>
            </p:cNvPr>
            <p:cNvSpPr txBox="1"/>
            <p:nvPr/>
          </p:nvSpPr>
          <p:spPr>
            <a:xfrm>
              <a:off x="9116570" y="4004394"/>
              <a:ext cx="308098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  <a:p>
              <a:r>
                <a:rPr lang="en-US" dirty="0"/>
                <a:t>2</a:t>
              </a:r>
            </a:p>
            <a:p>
              <a:r>
                <a:rPr lang="en-US" dirty="0"/>
                <a:t>3</a:t>
              </a:r>
            </a:p>
            <a:p>
              <a:r>
                <a:rPr lang="en-US" dirty="0"/>
                <a:t>4</a:t>
              </a:r>
            </a:p>
            <a:p>
              <a:r>
                <a:rPr lang="en-US" dirty="0"/>
                <a:t>5</a:t>
              </a:r>
            </a:p>
            <a:p>
              <a:r>
                <a:rPr lang="en-US" dirty="0"/>
                <a:t>6</a:t>
              </a:r>
            </a:p>
            <a:p>
              <a:r>
                <a:rPr lang="en-US" dirty="0"/>
                <a:t>7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E8F1F80-9661-CFFB-8AF0-22D3340A6001}"/>
                    </a:ext>
                  </a:extLst>
                </p:cNvPr>
                <p:cNvSpPr txBox="1"/>
                <p:nvPr/>
              </p:nvSpPr>
              <p:spPr>
                <a:xfrm>
                  <a:off x="9074023" y="3290507"/>
                  <a:ext cx="39319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𝐵</m:t>
                        </m:r>
                      </m:oMath>
                    </m:oMathPara>
                  </a14:m>
                  <a:endParaRPr lang="en-US" sz="28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E8F1F80-9661-CFFB-8AF0-22D3340A60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4023" y="3290507"/>
                  <a:ext cx="393193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13B33E2-3826-DF02-2A17-C32556988724}"/>
                    </a:ext>
                  </a:extLst>
                </p:cNvPr>
                <p:cNvSpPr txBox="1"/>
                <p:nvPr/>
              </p:nvSpPr>
              <p:spPr>
                <a:xfrm>
                  <a:off x="8229727" y="3290507"/>
                  <a:ext cx="39319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oMath>
                    </m:oMathPara>
                  </a14:m>
                  <a:endParaRPr lang="en-US" sz="28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13B33E2-3826-DF02-2A17-C325569887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727" y="3290507"/>
                  <a:ext cx="393192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1956D62-9BD3-2C61-87FF-F5D75B724022}"/>
                </a:ext>
              </a:extLst>
            </p:cNvPr>
            <p:cNvCxnSpPr>
              <a:cxnSpLocks/>
            </p:cNvCxnSpPr>
            <p:nvPr/>
          </p:nvCxnSpPr>
          <p:spPr>
            <a:xfrm>
              <a:off x="7672068" y="4197096"/>
              <a:ext cx="1514731" cy="5425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D84E3E4-F9A8-418A-2F1D-A5CC9821B1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2068" y="4197096"/>
              <a:ext cx="1514731" cy="2621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65995D7-C288-97F8-5BD0-CC405EC1A7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7496" y="4468368"/>
              <a:ext cx="1449074" cy="2712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54B2D7C-9CA2-EF5C-439D-ADC6D51111B0}"/>
                </a:ext>
              </a:extLst>
            </p:cNvPr>
            <p:cNvCxnSpPr>
              <a:cxnSpLocks/>
            </p:cNvCxnSpPr>
            <p:nvPr/>
          </p:nvCxnSpPr>
          <p:spPr>
            <a:xfrm>
              <a:off x="7667496" y="5020056"/>
              <a:ext cx="1519303" cy="23198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9B61323-2C01-29AC-E50B-77411D4818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7496" y="5252043"/>
              <a:ext cx="1519303" cy="392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570C133-BD80-17A0-8E3A-0823D79ABC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7496" y="5020056"/>
              <a:ext cx="1517904" cy="5108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E932FBE-E19F-5602-EFCC-33153F62AE5D}"/>
                </a:ext>
              </a:extLst>
            </p:cNvPr>
            <p:cNvCxnSpPr>
              <a:cxnSpLocks/>
            </p:cNvCxnSpPr>
            <p:nvPr/>
          </p:nvCxnSpPr>
          <p:spPr>
            <a:xfrm>
              <a:off x="7667496" y="5833872"/>
              <a:ext cx="13804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F639C372-15D8-5A76-2443-481BAAD5086A}"/>
              </a:ext>
            </a:extLst>
          </p:cNvPr>
          <p:cNvSpPr txBox="1"/>
          <p:nvPr/>
        </p:nvSpPr>
        <p:spPr>
          <a:xfrm>
            <a:off x="4203510" y="4516373"/>
            <a:ext cx="7018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accent6"/>
                </a:solidFill>
              </a:rPr>
              <a:t>✓</a:t>
            </a:r>
            <a:endParaRPr lang="en-US" sz="3200" b="1" dirty="0">
              <a:solidFill>
                <a:schemeClr val="accent6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5D9F7E-7E96-6EF7-FCE5-52B41500B8EB}"/>
              </a:ext>
            </a:extLst>
          </p:cNvPr>
          <p:cNvSpPr txBox="1"/>
          <p:nvPr/>
        </p:nvSpPr>
        <p:spPr>
          <a:xfrm>
            <a:off x="9870568" y="4670262"/>
            <a:ext cx="7018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1D35"/>
                </a:solidFill>
                <a:effectLst/>
                <a:latin typeface="Google Sans"/>
              </a:rPr>
              <a:t>❌</a:t>
            </a:r>
            <a:endParaRPr lang="en-US" sz="28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5BF8FF-721D-1430-A103-11B9FFE25767}"/>
              </a:ext>
            </a:extLst>
          </p:cNvPr>
          <p:cNvSpPr txBox="1"/>
          <p:nvPr/>
        </p:nvSpPr>
        <p:spPr>
          <a:xfrm>
            <a:off x="9115042" y="5375564"/>
            <a:ext cx="272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58476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93BFF-635E-7C17-66CC-6A32909F4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1603F-E978-BA04-37DF-E1A6E3C98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Bijection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14">
                <a:extLst>
                  <a:ext uri="{FF2B5EF4-FFF2-40B4-BE49-F238E27FC236}">
                    <a16:creationId xmlns:a16="http://schemas.microsoft.com/office/drawing/2014/main" id="{4C5782FE-1F31-0653-BCA9-740D329B5E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53275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Definition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</m:oMath>
                </a14:m>
                <a:r>
                  <a:rPr lang="en-US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</m:oMath>
                </a14:m>
                <a:r>
                  <a:rPr lang="en-US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</m:oMath>
                </a14:m>
                <a:r>
                  <a:rPr lang="en-US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bijection</a:t>
                </a:r>
                <a:r>
                  <a:rPr lang="en-US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US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is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one-to-one and onto.</a:t>
                </a:r>
                <a:endParaRPr lang="en-US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Content Placeholder 14">
                <a:extLst>
                  <a:ext uri="{FF2B5EF4-FFF2-40B4-BE49-F238E27FC236}">
                    <a16:creationId xmlns:a16="http://schemas.microsoft.com/office/drawing/2014/main" id="{4C5782FE-1F31-0653-BCA9-740D329B5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532759"/>
              </a:xfrm>
              <a:blipFill>
                <a:blip r:embed="rId2"/>
                <a:stretch>
                  <a:fillRect l="-1217" t="-2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0082E807-91A2-6A5E-D0B3-8EB733A63235}"/>
              </a:ext>
            </a:extLst>
          </p:cNvPr>
          <p:cNvGrpSpPr/>
          <p:nvPr/>
        </p:nvGrpSpPr>
        <p:grpSpPr>
          <a:xfrm>
            <a:off x="5055107" y="3043619"/>
            <a:ext cx="2081785" cy="2854262"/>
            <a:chOff x="1837944" y="3290507"/>
            <a:chExt cx="2081785" cy="285426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073B974-ECD1-F4E3-8037-B11D98DC3C0A}"/>
                </a:ext>
              </a:extLst>
            </p:cNvPr>
            <p:cNvSpPr/>
            <p:nvPr/>
          </p:nvSpPr>
          <p:spPr>
            <a:xfrm>
              <a:off x="1837944" y="3895345"/>
              <a:ext cx="393192" cy="2249424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DF8EEA2-BC9F-027E-EDDD-5C234F5689A6}"/>
                </a:ext>
              </a:extLst>
            </p:cNvPr>
            <p:cNvSpPr txBox="1"/>
            <p:nvPr/>
          </p:nvSpPr>
          <p:spPr>
            <a:xfrm>
              <a:off x="1880491" y="4004394"/>
              <a:ext cx="308098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  <a:p>
              <a:r>
                <a:rPr lang="en-US" dirty="0"/>
                <a:t>2</a:t>
              </a:r>
            </a:p>
            <a:p>
              <a:r>
                <a:rPr lang="en-US" dirty="0"/>
                <a:t>3</a:t>
              </a:r>
            </a:p>
            <a:p>
              <a:r>
                <a:rPr lang="en-US" dirty="0"/>
                <a:t>4</a:t>
              </a:r>
            </a:p>
            <a:p>
              <a:r>
                <a:rPr lang="en-US" dirty="0"/>
                <a:t>5</a:t>
              </a:r>
            </a:p>
            <a:p>
              <a:r>
                <a:rPr lang="en-US" dirty="0"/>
                <a:t>6</a:t>
              </a:r>
            </a:p>
            <a:p>
              <a:r>
                <a:rPr lang="en-US" dirty="0"/>
                <a:t>7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C47CEB2-951E-7D3C-8232-818A6B96425F}"/>
                    </a:ext>
                  </a:extLst>
                </p:cNvPr>
                <p:cNvSpPr txBox="1"/>
                <p:nvPr/>
              </p:nvSpPr>
              <p:spPr>
                <a:xfrm>
                  <a:off x="1837944" y="3290507"/>
                  <a:ext cx="39319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oMath>
                    </m:oMathPara>
                  </a14:m>
                  <a:endParaRPr lang="en-US" sz="28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C47CEB2-951E-7D3C-8232-818A6B9642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7944" y="3290507"/>
                  <a:ext cx="393193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FC2DCB5-97C7-B986-55FA-01CCA183D600}"/>
                </a:ext>
              </a:extLst>
            </p:cNvPr>
            <p:cNvSpPr/>
            <p:nvPr/>
          </p:nvSpPr>
          <p:spPr>
            <a:xfrm>
              <a:off x="3526536" y="3895345"/>
              <a:ext cx="393192" cy="2249424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BA1CB6B-0FAC-1A7C-B2D9-C6AAEC24CB38}"/>
                </a:ext>
              </a:extLst>
            </p:cNvPr>
            <p:cNvSpPr txBox="1"/>
            <p:nvPr/>
          </p:nvSpPr>
          <p:spPr>
            <a:xfrm>
              <a:off x="3569083" y="4004394"/>
              <a:ext cx="308098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  <a:p>
              <a:r>
                <a:rPr lang="en-US" dirty="0"/>
                <a:t>2</a:t>
              </a:r>
            </a:p>
            <a:p>
              <a:r>
                <a:rPr lang="en-US" dirty="0"/>
                <a:t>3</a:t>
              </a:r>
            </a:p>
            <a:p>
              <a:r>
                <a:rPr lang="en-US" dirty="0"/>
                <a:t>4</a:t>
              </a:r>
            </a:p>
            <a:p>
              <a:r>
                <a:rPr lang="en-US" dirty="0"/>
                <a:t>5</a:t>
              </a:r>
            </a:p>
            <a:p>
              <a:r>
                <a:rPr lang="en-US" dirty="0"/>
                <a:t>6</a:t>
              </a:r>
            </a:p>
            <a:p>
              <a:r>
                <a:rPr lang="en-US" dirty="0"/>
                <a:t>7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4B99A3E-BEB4-6214-4F07-4B658096328A}"/>
                    </a:ext>
                  </a:extLst>
                </p:cNvPr>
                <p:cNvSpPr txBox="1"/>
                <p:nvPr/>
              </p:nvSpPr>
              <p:spPr>
                <a:xfrm>
                  <a:off x="3526536" y="3290507"/>
                  <a:ext cx="39319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𝐵</m:t>
                        </m:r>
                      </m:oMath>
                    </m:oMathPara>
                  </a14:m>
                  <a:endParaRPr lang="en-US" sz="28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4B99A3E-BEB4-6214-4F07-4B65809632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6536" y="3290507"/>
                  <a:ext cx="393193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2CA8C7A-E837-08D8-E144-107C37AD2011}"/>
                    </a:ext>
                  </a:extLst>
                </p:cNvPr>
                <p:cNvSpPr txBox="1"/>
                <p:nvPr/>
              </p:nvSpPr>
              <p:spPr>
                <a:xfrm>
                  <a:off x="2682240" y="3290507"/>
                  <a:ext cx="39319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oMath>
                    </m:oMathPara>
                  </a14:m>
                  <a:endParaRPr lang="en-US" sz="28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2CA8C7A-E837-08D8-E144-107C37AD20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2240" y="3290507"/>
                  <a:ext cx="393192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51A7F42-093A-4F63-FD6F-6E291231BE09}"/>
                </a:ext>
              </a:extLst>
            </p:cNvPr>
            <p:cNvCxnSpPr>
              <a:cxnSpLocks/>
            </p:cNvCxnSpPr>
            <p:nvPr/>
          </p:nvCxnSpPr>
          <p:spPr>
            <a:xfrm>
              <a:off x="2124581" y="4197096"/>
              <a:ext cx="1514731" cy="5425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2550F71-DBE3-BC2A-FF9F-FC0DFD0171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4581" y="4197096"/>
              <a:ext cx="1514731" cy="2621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63F8825-2258-36C9-F6AB-C3BBA55170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0009" y="4468368"/>
              <a:ext cx="1449074" cy="2712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8EF24D6-F30C-2F0B-07B6-E1DF139DDE1D}"/>
                </a:ext>
              </a:extLst>
            </p:cNvPr>
            <p:cNvCxnSpPr>
              <a:cxnSpLocks/>
            </p:cNvCxnSpPr>
            <p:nvPr/>
          </p:nvCxnSpPr>
          <p:spPr>
            <a:xfrm>
              <a:off x="2120009" y="5020056"/>
              <a:ext cx="1517904" cy="54635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2A0F9AF-6A36-DFCA-CA3A-54A98CB82F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0009" y="5252043"/>
              <a:ext cx="1519303" cy="392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393C347-E271-B45E-E2E7-3277696F262A}"/>
                </a:ext>
              </a:extLst>
            </p:cNvPr>
            <p:cNvCxnSpPr>
              <a:cxnSpLocks/>
            </p:cNvCxnSpPr>
            <p:nvPr/>
          </p:nvCxnSpPr>
          <p:spPr>
            <a:xfrm>
              <a:off x="2120009" y="5530935"/>
              <a:ext cx="1517904" cy="3029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6ADDCC7-438C-859F-0CC7-865BC3555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41283" y="5010913"/>
              <a:ext cx="1500952" cy="82295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7229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AF9E3-2D7F-0F90-65F4-17B464F5F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7646"/>
            <a:ext cx="10515600" cy="550270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Group Exercises</a:t>
            </a:r>
          </a:p>
          <a:p>
            <a:pPr marL="0" indent="0" algn="ctr"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Form groups of 3-4</a:t>
            </a:r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07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4201</TotalTime>
  <Words>583</Words>
  <Application>Microsoft Office PowerPoint</Application>
  <PresentationFormat>Widescreen</PresentationFormat>
  <Paragraphs>140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Google Sans</vt:lpstr>
      <vt:lpstr>Office Theme</vt:lpstr>
      <vt:lpstr>Functions March 6, 2026</vt:lpstr>
      <vt:lpstr>Agenda</vt:lpstr>
      <vt:lpstr>Function</vt:lpstr>
      <vt:lpstr>Domain, Image</vt:lpstr>
      <vt:lpstr>Counting Functions</vt:lpstr>
      <vt:lpstr>Inverse Function</vt:lpstr>
      <vt:lpstr>One-to-one</vt:lpstr>
      <vt:lpstr>One-to-one</vt:lpstr>
      <vt:lpstr>Onto</vt:lpstr>
      <vt:lpstr>Bijection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Definition January 16, 2026</dc:title>
  <dc:creator>Charlie MURPHY</dc:creator>
  <cp:lastModifiedBy>Murphy, Charlie</cp:lastModifiedBy>
  <cp:revision>51</cp:revision>
  <dcterms:created xsi:type="dcterms:W3CDTF">2026-01-16T17:57:13Z</dcterms:created>
  <dcterms:modified xsi:type="dcterms:W3CDTF">2026-03-06T07:29:59Z</dcterms:modified>
</cp:coreProperties>
</file>