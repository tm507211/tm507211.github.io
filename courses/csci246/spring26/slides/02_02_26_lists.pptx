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4" r:id="rId4"/>
    <p:sldId id="265" r:id="rId5"/>
    <p:sldId id="266" r:id="rId6"/>
    <p:sldId id="267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75"/>
    <p:restoredTop sz="94719"/>
  </p:normalViewPr>
  <p:slideViewPr>
    <p:cSldViewPr snapToGrid="0">
      <p:cViewPr varScale="1">
        <p:scale>
          <a:sx n="137" d="100"/>
          <a:sy n="137" d="100"/>
        </p:scale>
        <p:origin x="20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930911-D214-D045-9349-C37725674895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2961A4-95F2-894E-ADC5-DD1F6E908F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299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B5F3E-3B5A-D75A-BD4D-F730B1723D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CBB222-6649-719C-9325-1F36E18AB0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03515-C1F8-453F-0EC6-51AA2C7A1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618CDE-3F47-EDF4-DC0A-3961C0818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3E81A-FFDE-B721-CD1E-8F4DF700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940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0B8D5-26A3-EBE3-4E7F-AAD5E4FA3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B45CA-D54D-699A-76B5-4F0844DBC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381831-8FAA-6066-BF8E-81CC6F10D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E2452-7B5D-A849-6C01-7274000D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B564A-7A03-C6F6-F086-2432409A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074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7E357-6679-D94B-3077-7CD86B168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6CE16D-C6DB-A4BD-D8A8-5DF441199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6CECE-8E10-70CE-9C49-296C0E3F6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8E6D8-07D0-5A7C-2429-11F82ADB8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1CECBD-59AE-2F7D-875F-F980C9A0F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689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45976-4201-5230-1292-88B31927C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E06A4-2D27-B445-C2AE-4DFE1F1B58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F12955-52B7-7BAD-57BE-516E892B25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E9ACBD-4913-8B30-DA1E-3856DA65C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03733-97C9-CB33-4679-932A852A6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620720-8859-A269-160F-EC304CD91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859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9FEB4-D142-81F7-5D72-B998B0FFD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29B809-1D4B-25FB-A392-4AD5E273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247819-DD45-C145-4884-FD56DB1315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A84147-EF4B-84F7-5107-72EAD152C7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0DC25E-4155-C332-2692-B4CDA12B27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6E4217-32CE-6EDB-822C-C0818C731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9ABF66-BC23-02A7-0046-74A3E79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613106-05AE-7254-9C13-0FA7121C5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242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4BAE-848A-5F54-3A53-DE23D45C4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8DFFEE-FF57-2D6E-082B-512B8CF6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220EE-2708-9A84-DF28-110E84C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9D6CE-B64C-C538-21DF-D8291F94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009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ED71C6-356D-E558-4174-EA934A116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AF3206-B9DA-3961-3B09-B5610A499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8AA17-E9DA-FAC3-C9B5-09B1B1AA1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94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44BA2-B496-A5AD-8AAA-95FA8615E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ACE26-C855-0D28-4D15-3CDFC2752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64E0B-1DC0-3C0D-F4A2-D1C33C2BA5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5CE1-474B-EB3C-76AD-92081E569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34E6B-F034-7CA6-EC33-50AF78497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50DB7E-AA5F-DE24-0EC3-0396E2AC8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64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A7B6-1B0E-1E9A-FF73-2B29E7FC4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13D163-10D6-DE76-B416-097CDD6FFB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0D9EC6-4306-AA87-72BC-96A4389990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B74A75-C80D-3EDD-A7E3-736CCF13D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7D5F45-E11B-2C01-93C6-D6EC029DB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9A8749-4563-07C6-5150-619BE3814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962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92E73-0654-0FC4-FA57-790699391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8A1B91-CFDE-D11E-FF7B-93DBE6009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5845D3-A54F-0C5E-1122-1EFC709E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B3C6E3-06AC-2CAD-5190-8EC8B932F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66BF5-0B99-2F57-4FCF-CCAE7570B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475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F03C9B-F8AB-173A-C3DF-64A7E52181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77A583-EEE8-5F6B-1B72-A14AE29993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5FB26-E673-C15D-ACE1-BBA948D43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6D78F-8C1D-14A4-FB46-46EAAA548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E79D3-CE88-9D52-A16B-738A06771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90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E7AE9-6ED5-5836-3F2B-3A1E04AA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A079C4-773A-4290-F256-2E91752B09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34355-216E-2F08-CFF1-B3CFFD9115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900130-2E42-9F4E-B9EA-739EF1E7DBD9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052C4-72E0-9480-A591-D582C5D4BE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CA343-A6B2-4A4A-89B2-C91404765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DBBDD-990D-2D45-A0F6-66A37E9E4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0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5E992-0B6F-C532-4CDC-01C88B584C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2968" y="1666235"/>
            <a:ext cx="9144000" cy="1352389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Lists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February 2, 2026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3B3C38-0311-0A88-4B39-23CF5C009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2968" y="3779284"/>
            <a:ext cx="9144000" cy="1655762"/>
          </a:xfrm>
        </p:spPr>
        <p:txBody>
          <a:bodyPr/>
          <a:lstStyle/>
          <a:p>
            <a:pPr algn="l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CSCI 246: Discrete Structures</a:t>
            </a:r>
          </a:p>
          <a:p>
            <a:pPr algn="l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Textbook Reference: Ch 2. Sec 9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C46AF35-1070-5310-AD82-FAFFE7E3F17E}"/>
              </a:ext>
            </a:extLst>
          </p:cNvPr>
          <p:cNvCxnSpPr/>
          <p:nvPr/>
        </p:nvCxnSpPr>
        <p:spPr>
          <a:xfrm>
            <a:off x="1242968" y="3429000"/>
            <a:ext cx="9706063" cy="0"/>
          </a:xfrm>
          <a:prstGeom prst="line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6138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F536E-B36C-FFF5-92CE-C10A8003E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18EBE-B810-7F46-1CA1-4FCD6ED02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(~ 10 minutes)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Group Exercise (~40 minutes)</a:t>
            </a:r>
          </a:p>
        </p:txBody>
      </p:sp>
    </p:spTree>
    <p:extLst>
      <p:ext uri="{BB962C8B-B14F-4D97-AF65-F5344CB8AC3E}">
        <p14:creationId xmlns:p14="http://schemas.microsoft.com/office/powerpoint/2010/main" val="660948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BBE9D-9E02-2458-2BFB-839EE0AF0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98278-6ABA-D0EE-E960-FD4BF06AF7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Definition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A list is an ordered collection of elements.</a:t>
                </a:r>
              </a:p>
              <a:p>
                <a:pPr marL="0" indent="0"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 lists: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()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0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   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    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    (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𝑏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𝑏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98278-6ABA-D0EE-E960-FD4BF06AF7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3BB40E7-CBCC-8A48-51E1-F70DBCBCBD46}"/>
              </a:ext>
            </a:extLst>
          </p:cNvPr>
          <p:cNvSpPr txBox="1"/>
          <p:nvPr/>
        </p:nvSpPr>
        <p:spPr>
          <a:xfrm>
            <a:off x="2708283" y="4165352"/>
            <a:ext cx="1295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Empty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B696E-A7B7-781E-61F8-2A8A65261355}"/>
              </a:ext>
            </a:extLst>
          </p:cNvPr>
          <p:cNvSpPr txBox="1"/>
          <p:nvPr/>
        </p:nvSpPr>
        <p:spPr>
          <a:xfrm>
            <a:off x="4169170" y="4167354"/>
            <a:ext cx="16514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Ordered Pair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C0FF07-4BAB-337D-F097-2D269751BA8B}"/>
              </a:ext>
            </a:extLst>
          </p:cNvPr>
          <p:cNvSpPr txBox="1"/>
          <p:nvPr/>
        </p:nvSpPr>
        <p:spPr>
          <a:xfrm>
            <a:off x="3230389" y="4917242"/>
            <a:ext cx="164019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Singleton list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containing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EA5C44-C722-F09C-A96C-7AF5C0639BAA}"/>
              </a:ext>
            </a:extLst>
          </p:cNvPr>
          <p:cNvSpPr txBox="1"/>
          <p:nvPr/>
        </p:nvSpPr>
        <p:spPr>
          <a:xfrm>
            <a:off x="5657081" y="5024475"/>
            <a:ext cx="23409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Duplicates Allowed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042B1B-7A4F-BEFF-5C18-05B67A07B089}"/>
              </a:ext>
            </a:extLst>
          </p:cNvPr>
          <p:cNvSpPr txBox="1"/>
          <p:nvPr/>
        </p:nvSpPr>
        <p:spPr>
          <a:xfrm>
            <a:off x="8209670" y="4165352"/>
            <a:ext cx="17620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Order Matters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804E107-9FA1-E59E-B173-479101D3E95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3354821" y="3331028"/>
            <a:ext cx="1236" cy="8343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84C318-FA1F-3538-EB46-8B29E6B23A21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4050485" y="3331028"/>
            <a:ext cx="1" cy="15862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FC625D5-B04D-7204-6429-682172338FF2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994876" y="3331028"/>
            <a:ext cx="1" cy="8363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EFAADB9-7F96-ECE4-E6B0-58AB3C26B983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827562" y="3284373"/>
            <a:ext cx="0" cy="174010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9197091-E518-7C7B-DAE5-85F0AD68E4F2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9090681" y="3284373"/>
            <a:ext cx="0" cy="880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111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4160A-E39E-59D5-360F-4B4C19967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List Examples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772C3-FB31-01DA-79E0-74E2D6646A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56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Consider the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</m:t>
                        </m:r>
                      </m:e>
                    </m:d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. Write all lists up to length 3: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772C3-FB31-01DA-79E0-74E2D6646A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5648"/>
              </a:xfrm>
              <a:blipFill>
                <a:blip r:embed="rId2"/>
                <a:stretch>
                  <a:fillRect l="-1206" t="-14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128339-036F-E76F-CDCE-AD54F3CF8A0B}"/>
                  </a:ext>
                </a:extLst>
              </p:cNvPr>
              <p:cNvSpPr txBox="1"/>
              <p:nvPr/>
            </p:nvSpPr>
            <p:spPr>
              <a:xfrm>
                <a:off x="2272004" y="3429000"/>
                <a:ext cx="3189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128339-036F-E76F-CDCE-AD54F3CF8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2004" y="3429000"/>
                <a:ext cx="318997" cy="369332"/>
              </a:xfrm>
              <a:prstGeom prst="rect">
                <a:avLst/>
              </a:prstGeom>
              <a:blipFill>
                <a:blip r:embed="rId3"/>
                <a:stretch>
                  <a:fillRect l="-38462" t="-3333" r="-30769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B99EA5A-6813-CF6F-0E02-E67FD6F9BB2F}"/>
                  </a:ext>
                </a:extLst>
              </p:cNvPr>
              <p:cNvSpPr txBox="1"/>
              <p:nvPr/>
            </p:nvSpPr>
            <p:spPr>
              <a:xfrm>
                <a:off x="4737619" y="3336667"/>
                <a:ext cx="192443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B99EA5A-6813-CF6F-0E02-E67FD6F9B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619" y="3336667"/>
                <a:ext cx="1924438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09E5B13-B5AF-7C85-7DBC-4653C8F5DA86}"/>
                  </a:ext>
                </a:extLst>
              </p:cNvPr>
              <p:cNvSpPr txBox="1"/>
              <p:nvPr/>
            </p:nvSpPr>
            <p:spPr>
              <a:xfrm>
                <a:off x="8210162" y="3013500"/>
                <a:ext cx="3143638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09E5B13-B5AF-7C85-7DBC-4653C8F5D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0162" y="3013500"/>
                <a:ext cx="3143638" cy="1200329"/>
              </a:xfrm>
              <a:prstGeom prst="rect">
                <a:avLst/>
              </a:prstGeom>
              <a:blipFill>
                <a:blip r:embed="rId5"/>
                <a:stretch>
                  <a:fillRect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F37422-3BF7-E04F-0EAC-27CD42A322FD}"/>
                  </a:ext>
                </a:extLst>
              </p:cNvPr>
              <p:cNvSpPr txBox="1"/>
              <p:nvPr/>
            </p:nvSpPr>
            <p:spPr>
              <a:xfrm>
                <a:off x="611155" y="4436029"/>
                <a:ext cx="3699588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F37422-3BF7-E04F-0EAC-27CD42A322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55" y="4436029"/>
                <a:ext cx="3699588" cy="1200329"/>
              </a:xfrm>
              <a:prstGeom prst="rect">
                <a:avLst/>
              </a:prstGeom>
              <a:blipFill>
                <a:blip r:embed="rId6"/>
                <a:stretch>
                  <a:fillRect r="-342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BF70AC9-DF11-E652-23EF-8F09697139B9}"/>
                  </a:ext>
                </a:extLst>
              </p:cNvPr>
              <p:cNvSpPr txBox="1"/>
              <p:nvPr/>
            </p:nvSpPr>
            <p:spPr>
              <a:xfrm>
                <a:off x="4308410" y="4431268"/>
                <a:ext cx="3699588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BF70AC9-DF11-E652-23EF-8F0969713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410" y="4431268"/>
                <a:ext cx="3699588" cy="1200329"/>
              </a:xfrm>
              <a:prstGeom prst="rect">
                <a:avLst/>
              </a:prstGeom>
              <a:blipFill>
                <a:blip r:embed="rId7"/>
                <a:stretch>
                  <a:fillRect r="-342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B9CE686-4DC4-6919-2F4B-70F2BE996E33}"/>
                  </a:ext>
                </a:extLst>
              </p:cNvPr>
              <p:cNvSpPr txBox="1"/>
              <p:nvPr/>
            </p:nvSpPr>
            <p:spPr>
              <a:xfrm>
                <a:off x="8005665" y="4431268"/>
                <a:ext cx="3699588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B9CE686-4DC4-6919-2F4B-70F2BE996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665" y="4431268"/>
                <a:ext cx="3699588" cy="1200329"/>
              </a:xfrm>
              <a:prstGeom prst="rect">
                <a:avLst/>
              </a:prstGeom>
              <a:blipFill>
                <a:blip r:embed="rId8"/>
                <a:stretch>
                  <a:fillRect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D17BDA5-21A8-0864-61E9-B7A69279737B}"/>
              </a:ext>
            </a:extLst>
          </p:cNvPr>
          <p:cNvSpPr txBox="1"/>
          <p:nvPr/>
        </p:nvSpPr>
        <p:spPr>
          <a:xfrm>
            <a:off x="1843673" y="2544638"/>
            <a:ext cx="117565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1 list of length 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B586A0-8191-B740-9506-0FA3BAB2676B}"/>
              </a:ext>
            </a:extLst>
          </p:cNvPr>
          <p:cNvSpPr txBox="1"/>
          <p:nvPr/>
        </p:nvSpPr>
        <p:spPr>
          <a:xfrm>
            <a:off x="5112009" y="2491273"/>
            <a:ext cx="117565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lists of length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F7321C-E651-4B73-C8C3-BCA91CEBAA4D}"/>
              </a:ext>
            </a:extLst>
          </p:cNvPr>
          <p:cNvSpPr txBox="1"/>
          <p:nvPr/>
        </p:nvSpPr>
        <p:spPr>
          <a:xfrm>
            <a:off x="8606226" y="2626210"/>
            <a:ext cx="2351509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9 lists of length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C2F6F3-2E8B-9527-139A-9BFB135A802A}"/>
              </a:ext>
            </a:extLst>
          </p:cNvPr>
          <p:cNvSpPr txBox="1"/>
          <p:nvPr/>
        </p:nvSpPr>
        <p:spPr>
          <a:xfrm>
            <a:off x="4388253" y="4029163"/>
            <a:ext cx="262316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27 lists of length 3</a:t>
            </a:r>
          </a:p>
        </p:txBody>
      </p:sp>
    </p:spTree>
    <p:extLst>
      <p:ext uri="{BB962C8B-B14F-4D97-AF65-F5344CB8AC3E}">
        <p14:creationId xmlns:p14="http://schemas.microsoft.com/office/powerpoint/2010/main" val="4205077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4D9EA-8F97-31A3-A278-2191BC501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Counting 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105973-610F-57A0-027D-E669744730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Theorem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For a set of elements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elements, there 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lists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containing elements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105973-610F-57A0-027D-E669744730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995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4D9EA-8F97-31A3-A278-2191BC501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Counting 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105973-610F-57A0-027D-E669744730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For a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elements, how many lists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are there with no repeated elements?</a:t>
                </a:r>
              </a:p>
              <a:p>
                <a:pPr marL="0" indent="0"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Theorem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 There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𝑛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∗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∗…∗(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−(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−1))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lists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with no repeated elements (Note: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𝑛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105973-610F-57A0-027D-E669744730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1327" b="-2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673E19C-A83A-9950-D052-E53A5D9EFCED}"/>
                  </a:ext>
                </a:extLst>
              </p:cNvPr>
              <p:cNvSpPr txBox="1"/>
              <p:nvPr/>
            </p:nvSpPr>
            <p:spPr>
              <a:xfrm>
                <a:off x="6972105" y="2800965"/>
                <a:ext cx="1784478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 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b</m:t>
                          </m:r>
                          <m: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a</m:t>
                          </m:r>
                        </m:e>
                      </m:d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b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c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 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673E19C-A83A-9950-D052-E53A5D9EFC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2105" y="2800965"/>
                <a:ext cx="1784478" cy="1200329"/>
              </a:xfrm>
              <a:prstGeom prst="rect">
                <a:avLst/>
              </a:prstGeom>
              <a:blipFill>
                <a:blip r:embed="rId3"/>
                <a:stretch>
                  <a:fillRect r="-709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0903411-0DD1-E4F7-DC77-861976E5BD93}"/>
                  </a:ext>
                </a:extLst>
              </p:cNvPr>
              <p:cNvSpPr txBox="1"/>
              <p:nvPr/>
            </p:nvSpPr>
            <p:spPr>
              <a:xfrm>
                <a:off x="5203761" y="2828835"/>
                <a:ext cx="1784478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b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0903411-0DD1-E4F7-DC77-861976E5B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3761" y="2828835"/>
                <a:ext cx="1784478" cy="12003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B68863-7B0D-DA14-F710-BAF77FC237F8}"/>
                  </a:ext>
                </a:extLst>
              </p:cNvPr>
              <p:cNvSpPr txBox="1"/>
              <p:nvPr/>
            </p:nvSpPr>
            <p:spPr>
              <a:xfrm>
                <a:off x="8756583" y="2828835"/>
                <a:ext cx="292456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𝑏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 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b</m:t>
                          </m:r>
                          <m: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a</m:t>
                          </m:r>
                          <m: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c</m:t>
                          </m:r>
                        </m:e>
                      </m:d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 </m:t>
                      </m:r>
                      <m:d>
                        <m:dPr>
                          <m:ctrl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b</m:t>
                          </m:r>
                          <m: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c</m:t>
                          </m:r>
                          <m: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a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𝑏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B68863-7B0D-DA14-F710-BAF77FC23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583" y="2828835"/>
                <a:ext cx="2924564" cy="1200329"/>
              </a:xfrm>
              <a:prstGeom prst="rect">
                <a:avLst/>
              </a:prstGeom>
              <a:blipFill>
                <a:blip r:embed="rId5"/>
                <a:stretch>
                  <a:fillRect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218807-4C21-2F7D-475D-A45F1FF17490}"/>
                  </a:ext>
                </a:extLst>
              </p:cNvPr>
              <p:cNvSpPr txBox="1"/>
              <p:nvPr/>
            </p:nvSpPr>
            <p:spPr>
              <a:xfrm>
                <a:off x="4578998" y="3198166"/>
                <a:ext cx="7767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218807-4C21-2F7D-475D-A45F1FF17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8998" y="3198166"/>
                <a:ext cx="776773" cy="461665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49521CA-C9A5-4909-7ADC-FD31DA1EF862}"/>
              </a:ext>
            </a:extLst>
          </p:cNvPr>
          <p:cNvSpPr txBox="1"/>
          <p:nvPr/>
        </p:nvSpPr>
        <p:spPr>
          <a:xfrm>
            <a:off x="4170531" y="3666328"/>
            <a:ext cx="1593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1 of length 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A594AB-7074-D253-E57E-4F51A904E2D0}"/>
              </a:ext>
            </a:extLst>
          </p:cNvPr>
          <p:cNvSpPr txBox="1"/>
          <p:nvPr/>
        </p:nvSpPr>
        <p:spPr>
          <a:xfrm>
            <a:off x="5299147" y="4035661"/>
            <a:ext cx="1593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3 of length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426107-2153-3F71-BBA0-82C3F61B9824}"/>
              </a:ext>
            </a:extLst>
          </p:cNvPr>
          <p:cNvSpPr txBox="1"/>
          <p:nvPr/>
        </p:nvSpPr>
        <p:spPr>
          <a:xfrm>
            <a:off x="7031656" y="4066438"/>
            <a:ext cx="1593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6 of length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985808-E24F-154C-52FC-4C2F3E0B8675}"/>
              </a:ext>
            </a:extLst>
          </p:cNvPr>
          <p:cNvSpPr txBox="1"/>
          <p:nvPr/>
        </p:nvSpPr>
        <p:spPr>
          <a:xfrm>
            <a:off x="9422012" y="4066438"/>
            <a:ext cx="15937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6 of length 3</a:t>
            </a:r>
          </a:p>
        </p:txBody>
      </p:sp>
    </p:spTree>
    <p:extLst>
      <p:ext uri="{BB962C8B-B14F-4D97-AF65-F5344CB8AC3E}">
        <p14:creationId xmlns:p14="http://schemas.microsoft.com/office/powerpoint/2010/main" val="418662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9" grpId="0"/>
      <p:bldP spid="10" grpId="0"/>
      <p:bldP spid="11" grpId="0"/>
      <p:bldP spid="12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AF9E3-2D7F-0F90-65F4-17B464F5F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77646"/>
            <a:ext cx="10515600" cy="550270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Group Exercises</a:t>
            </a:r>
          </a:p>
          <a:p>
            <a:pPr marL="0" indent="0" algn="ctr">
              <a:buNone/>
            </a:pP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Form groups of 3-4</a:t>
            </a:r>
            <a:endParaRPr lang="en-US" sz="6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207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329</Words>
  <Application>Microsoft Macintosh PowerPoint</Application>
  <PresentationFormat>Widescreen</PresentationFormat>
  <Paragraphs>63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Lists February 2, 2026</vt:lpstr>
      <vt:lpstr>Agenda</vt:lpstr>
      <vt:lpstr>Lists</vt:lpstr>
      <vt:lpstr>List Examples</vt:lpstr>
      <vt:lpstr>Counting Lists</vt:lpstr>
      <vt:lpstr>Counting Lists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Definition January 16, 2026</dc:title>
  <dc:creator>Charlie MURPHY</dc:creator>
  <cp:lastModifiedBy>Charlie MURPHY</cp:lastModifiedBy>
  <cp:revision>12</cp:revision>
  <dcterms:created xsi:type="dcterms:W3CDTF">2026-01-16T17:57:13Z</dcterms:created>
  <dcterms:modified xsi:type="dcterms:W3CDTF">2026-02-02T19:32:16Z</dcterms:modified>
</cp:coreProperties>
</file>