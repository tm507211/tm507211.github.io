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4" r:id="rId4"/>
    <p:sldId id="281" r:id="rId5"/>
    <p:sldId id="273" r:id="rId6"/>
    <p:sldId id="282" r:id="rId7"/>
    <p:sldId id="275" r:id="rId8"/>
    <p:sldId id="274" r:id="rId9"/>
    <p:sldId id="276" r:id="rId10"/>
    <p:sldId id="277" r:id="rId11"/>
    <p:sldId id="278" r:id="rId12"/>
    <p:sldId id="283" r:id="rId13"/>
    <p:sldId id="285" r:id="rId14"/>
    <p:sldId id="279" r:id="rId15"/>
    <p:sldId id="284" r:id="rId16"/>
    <p:sldId id="280" r:id="rId17"/>
    <p:sldId id="286" r:id="rId18"/>
    <p:sldId id="287" r:id="rId19"/>
    <p:sldId id="26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08"/>
    <p:restoredTop sz="94829"/>
  </p:normalViewPr>
  <p:slideViewPr>
    <p:cSldViewPr snapToGrid="0">
      <p:cViewPr varScale="1">
        <p:scale>
          <a:sx n="105" d="100"/>
          <a:sy n="105" d="100"/>
        </p:scale>
        <p:origin x="84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930911-D214-D045-9349-C37725674895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2961A4-95F2-894E-ADC5-DD1F6E908F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299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B5F3E-3B5A-D75A-BD4D-F730B1723D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CBB222-6649-719C-9325-1F36E18AB0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903515-C1F8-453F-0EC6-51AA2C7A1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618CDE-3F47-EDF4-DC0A-3961C0818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3E81A-FFDE-B721-CD1E-8F4DF700E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940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0B8D5-26A3-EBE3-4E7F-AAD5E4FA3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B45CA-D54D-699A-76B5-4F0844DBCF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381831-8FAA-6066-BF8E-81CC6F10D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8E2452-7B5D-A849-6C01-7274000D7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CB564A-7A03-C6F6-F086-2432409A8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074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7E357-6679-D94B-3077-7CD86B168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6CE16D-C6DB-A4BD-D8A8-5DF441199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6CECE-8E10-70CE-9C49-296C0E3F6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8E6D8-07D0-5A7C-2429-11F82ADB8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1CECBD-59AE-2F7D-875F-F980C9A0F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689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45976-4201-5230-1292-88B31927C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E06A4-2D27-B445-C2AE-4DFE1F1B58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F12955-52B7-7BAD-57BE-516E892B25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E9ACBD-4913-8B30-DA1E-3856DA65C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003733-97C9-CB33-4679-932A852A6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620720-8859-A269-160F-EC304CD91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859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9FEB4-D142-81F7-5D72-B998B0FFD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29B809-1D4B-25FB-A392-4AD5E2738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247819-DD45-C145-4884-FD56DB1315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A84147-EF4B-84F7-5107-72EAD152C7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0DC25E-4155-C332-2692-B4CDA12B27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6E4217-32CE-6EDB-822C-C0818C731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9ABF66-BC23-02A7-0046-74A3E798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613106-05AE-7254-9C13-0FA7121C5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242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14BAE-848A-5F54-3A53-DE23D45C4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8DFFEE-FF57-2D6E-082B-512B8CF6A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7220EE-2708-9A84-DF28-110E84C12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9D6CE-B64C-C538-21DF-D8291F940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009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ED71C6-356D-E558-4174-EA934A116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AF3206-B9DA-3961-3B09-B5610A499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8AA17-E9DA-FAC3-C9B5-09B1B1AA1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494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44BA2-B496-A5AD-8AAA-95FA8615E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ACE26-C855-0D28-4D15-3CDFC2752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64E0B-1DC0-3C0D-F4A2-D1C33C2BA5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4F5CE1-474B-EB3C-76AD-92081E569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534E6B-F034-7CA6-EC33-50AF78497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50DB7E-AA5F-DE24-0EC3-0396E2AC8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646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FA7B6-1B0E-1E9A-FF73-2B29E7FC4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13D163-10D6-DE76-B416-097CDD6FFB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0D9EC6-4306-AA87-72BC-96A4389990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B74A75-C80D-3EDD-A7E3-736CCF13D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7D5F45-E11B-2C01-93C6-D6EC029DB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9A8749-4563-07C6-5150-619BE3814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962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92E73-0654-0FC4-FA57-790699391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8A1B91-CFDE-D11E-FF7B-93DBE6009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5845D3-A54F-0C5E-1122-1EFC709E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B3C6E3-06AC-2CAD-5190-8EC8B932F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66BF5-0B99-2F57-4FCF-CCAE7570B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4750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F03C9B-F8AB-173A-C3DF-64A7E52181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77A583-EEE8-5F6B-1B72-A14AE29993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A5FB26-E673-C15D-ACE1-BBA948D43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6D78F-8C1D-14A4-FB46-46EAAA548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E79D3-CE88-9D52-A16B-738A06771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909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9E7AE9-6ED5-5836-3F2B-3A1E04AA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A079C4-773A-4290-F256-2E91752B09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34355-216E-2F08-CFF1-B3CFFD9115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900130-2E42-9F4E-B9EA-739EF1E7DBD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052C4-72E0-9480-A591-D582C5D4BE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CA343-A6B2-4A4A-89B2-C91404765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0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5E992-0B6F-C532-4CDC-01C88B584C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2968" y="1666235"/>
            <a:ext cx="9144000" cy="1352389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Set Operations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February 11, 2026</a:t>
            </a:r>
            <a:endParaRPr lang="en-US" sz="7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3B3C38-0311-0A88-4B39-23CF5C009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2968" y="3779284"/>
            <a:ext cx="9144000" cy="1655762"/>
          </a:xfrm>
        </p:spPr>
        <p:txBody>
          <a:bodyPr/>
          <a:lstStyle/>
          <a:p>
            <a:pPr algn="l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CSCI 246: Discrete Structures</a:t>
            </a:r>
          </a:p>
          <a:p>
            <a:pPr algn="l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Textbook Reference: Ch 2. Sec 12-13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C46AF35-1070-5310-AD82-FAFFE7E3F17E}"/>
              </a:ext>
            </a:extLst>
          </p:cNvPr>
          <p:cNvCxnSpPr/>
          <p:nvPr/>
        </p:nvCxnSpPr>
        <p:spPr>
          <a:xfrm>
            <a:off x="1242968" y="3429000"/>
            <a:ext cx="9706063" cy="0"/>
          </a:xfrm>
          <a:prstGeom prst="line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6138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F536E-B36C-FFF5-92CE-C10A8003E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18EBE-B810-7F46-1CA1-4FCD6ED02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(~ 15 minutes)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Group Exercise (~35 minutes)</a:t>
            </a:r>
          </a:p>
        </p:txBody>
      </p:sp>
    </p:spTree>
    <p:extLst>
      <p:ext uri="{BB962C8B-B14F-4D97-AF65-F5344CB8AC3E}">
        <p14:creationId xmlns:p14="http://schemas.microsoft.com/office/powerpoint/2010/main" val="660948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BBE9D-9E02-2458-2BFB-839EE0AF0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Set Union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14">
                <a:extLst>
                  <a:ext uri="{FF2B5EF4-FFF2-40B4-BE49-F238E27FC236}">
                    <a16:creationId xmlns:a16="http://schemas.microsoft.com/office/drawing/2014/main" id="{5E777AF2-08C1-87E3-A452-9D031C3B14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3255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Definition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: 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bet sets. The union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∪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≝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: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or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}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that contains exactly the elements that appear in either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>
          <p:sp>
            <p:nvSpPr>
              <p:cNvPr id="3" name="Content Placeholder 14">
                <a:extLst>
                  <a:ext uri="{FF2B5EF4-FFF2-40B4-BE49-F238E27FC236}">
                    <a16:creationId xmlns:a16="http://schemas.microsoft.com/office/drawing/2014/main" id="{5E777AF2-08C1-87E3-A452-9D031C3B14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325563"/>
              </a:xfrm>
              <a:blipFill>
                <a:blip r:embed="rId2"/>
                <a:stretch>
                  <a:fillRect l="-1217" t="-7798" b="-64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14">
            <a:extLst>
              <a:ext uri="{FF2B5EF4-FFF2-40B4-BE49-F238E27FC236}">
                <a16:creationId xmlns:a16="http://schemas.microsoft.com/office/drawing/2014/main" id="{57450731-9C00-56A1-9E79-4C73A1D1232A}"/>
              </a:ext>
            </a:extLst>
          </p:cNvPr>
          <p:cNvSpPr txBox="1">
            <a:spLocks/>
          </p:cNvSpPr>
          <p:nvPr/>
        </p:nvSpPr>
        <p:spPr>
          <a:xfrm>
            <a:off x="838200" y="3286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1A6319D-4BE6-DB60-C996-193458DF164E}"/>
                  </a:ext>
                </a:extLst>
              </p:cNvPr>
              <p:cNvSpPr txBox="1"/>
              <p:nvPr/>
            </p:nvSpPr>
            <p:spPr>
              <a:xfrm>
                <a:off x="2828636" y="3733461"/>
                <a:ext cx="162897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∪∅=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1A6319D-4BE6-DB60-C996-193458DF16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636" y="3733461"/>
                <a:ext cx="1628972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DFBEA04-100F-DB02-1ED7-A4C6C0BAE879}"/>
                  </a:ext>
                </a:extLst>
              </p:cNvPr>
              <p:cNvSpPr txBox="1"/>
              <p:nvPr/>
            </p:nvSpPr>
            <p:spPr>
              <a:xfrm>
                <a:off x="6448044" y="3733462"/>
                <a:ext cx="346620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∪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1,2,3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DFBEA04-100F-DB02-1ED7-A4C6C0BAE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044" y="3733462"/>
                <a:ext cx="3466205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459B90F-4217-B3D0-6E3A-BA09D9CDC7B0}"/>
                  </a:ext>
                </a:extLst>
              </p:cNvPr>
              <p:cNvSpPr txBox="1"/>
              <p:nvPr/>
            </p:nvSpPr>
            <p:spPr>
              <a:xfrm>
                <a:off x="2690516" y="5059024"/>
                <a:ext cx="6810967" cy="10502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⋃"/>
                          <m:subHide m:val="on"/>
                          <m:supHide m:val="o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:∃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.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∪…∪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459B90F-4217-B3D0-6E3A-BA09D9CDC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0516" y="5059024"/>
                <a:ext cx="6810967" cy="10502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1118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96D30-FFE0-8690-41D3-A6F60181A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42260-D23F-5ED8-BD20-9BF04450F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Set Union</a:t>
            </a:r>
          </a:p>
        </p:txBody>
      </p:sp>
      <p:sp>
        <p:nvSpPr>
          <p:cNvPr id="8" name="Content Placeholder 14">
            <a:extLst>
              <a:ext uri="{FF2B5EF4-FFF2-40B4-BE49-F238E27FC236}">
                <a16:creationId xmlns:a16="http://schemas.microsoft.com/office/drawing/2014/main" id="{36D7D009-A066-1EB0-8CA2-5C7FA2882C83}"/>
              </a:ext>
            </a:extLst>
          </p:cNvPr>
          <p:cNvSpPr txBox="1">
            <a:spLocks/>
          </p:cNvSpPr>
          <p:nvPr/>
        </p:nvSpPr>
        <p:spPr>
          <a:xfrm>
            <a:off x="838200" y="3286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0D128F1-C03F-BE8E-D67A-2DCE10F7B34E}"/>
                  </a:ext>
                </a:extLst>
              </p:cNvPr>
              <p:cNvSpPr/>
              <p:nvPr/>
            </p:nvSpPr>
            <p:spPr>
              <a:xfrm>
                <a:off x="4453128" y="2807208"/>
                <a:ext cx="2057400" cy="1956816"/>
              </a:xfrm>
              <a:prstGeom prst="ellipse">
                <a:avLst/>
              </a:prstGeom>
              <a:noFill/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0D128F1-C03F-BE8E-D67A-2DCE10F7B3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128" y="2807208"/>
                <a:ext cx="2057400" cy="195681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6C85D6A-D3A2-D481-DADA-6B220E2A7E0B}"/>
                  </a:ext>
                </a:extLst>
              </p:cNvPr>
              <p:cNvSpPr/>
              <p:nvPr/>
            </p:nvSpPr>
            <p:spPr>
              <a:xfrm>
                <a:off x="5958840" y="2807208"/>
                <a:ext cx="2057400" cy="1956816"/>
              </a:xfrm>
              <a:prstGeom prst="ellipse">
                <a:avLst/>
              </a:prstGeom>
              <a:noFill/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6C85D6A-D3A2-D481-DADA-6B220E2A7E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840" y="2807208"/>
                <a:ext cx="2057400" cy="195681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8147CFE-718E-CA28-0001-AF437C457508}"/>
                  </a:ext>
                </a:extLst>
              </p:cNvPr>
              <p:cNvSpPr/>
              <p:nvPr/>
            </p:nvSpPr>
            <p:spPr>
              <a:xfrm>
                <a:off x="4453128" y="2807208"/>
                <a:ext cx="2057400" cy="1956816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8147CFE-718E-CA28-0001-AF437C4575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128" y="2807208"/>
                <a:ext cx="2057400" cy="195681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F8275AF-2098-EE98-2FAD-82C0D09A8339}"/>
                  </a:ext>
                </a:extLst>
              </p:cNvPr>
              <p:cNvSpPr/>
              <p:nvPr/>
            </p:nvSpPr>
            <p:spPr>
              <a:xfrm>
                <a:off x="5958840" y="2807208"/>
                <a:ext cx="2057400" cy="1956816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F8275AF-2098-EE98-2FAD-82C0D09A83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840" y="2807208"/>
                <a:ext cx="2057400" cy="195681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666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4427A-0226-B468-89B5-ED08FD3EB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CFBF2-1806-8819-00F7-F368E1FDB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Set Intersection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14">
                <a:extLst>
                  <a:ext uri="{FF2B5EF4-FFF2-40B4-BE49-F238E27FC236}">
                    <a16:creationId xmlns:a16="http://schemas.microsoft.com/office/drawing/2014/main" id="{086CBF58-3ECA-607F-D17C-EA54E44C94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3255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Definition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: 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bet sets. The intersection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∩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≝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: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and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}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that contains exactly the elements that appear in both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>
          <p:sp>
            <p:nvSpPr>
              <p:cNvPr id="3" name="Content Placeholder 14">
                <a:extLst>
                  <a:ext uri="{FF2B5EF4-FFF2-40B4-BE49-F238E27FC236}">
                    <a16:creationId xmlns:a16="http://schemas.microsoft.com/office/drawing/2014/main" id="{086CBF58-3ECA-607F-D17C-EA54E44C94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325563"/>
              </a:xfrm>
              <a:blipFill>
                <a:blip r:embed="rId2"/>
                <a:stretch>
                  <a:fillRect l="-1217" t="-7798" b="-64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14">
            <a:extLst>
              <a:ext uri="{FF2B5EF4-FFF2-40B4-BE49-F238E27FC236}">
                <a16:creationId xmlns:a16="http://schemas.microsoft.com/office/drawing/2014/main" id="{E5259A29-C608-DC3D-81D2-0C480C4C2103}"/>
              </a:ext>
            </a:extLst>
          </p:cNvPr>
          <p:cNvSpPr txBox="1">
            <a:spLocks/>
          </p:cNvSpPr>
          <p:nvPr/>
        </p:nvSpPr>
        <p:spPr>
          <a:xfrm>
            <a:off x="838200" y="3286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ABF91A-BBE2-73B2-0D72-964205BBAFDB}"/>
                  </a:ext>
                </a:extLst>
              </p:cNvPr>
              <p:cNvSpPr txBox="1"/>
              <p:nvPr/>
            </p:nvSpPr>
            <p:spPr>
              <a:xfrm>
                <a:off x="2828636" y="3733461"/>
                <a:ext cx="162897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∩∅=∅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ABF91A-BBE2-73B2-0D72-964205BBAF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636" y="3733461"/>
                <a:ext cx="1628972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80A30B-E90D-C1E7-D3D2-711563043035}"/>
                  </a:ext>
                </a:extLst>
              </p:cNvPr>
              <p:cNvSpPr txBox="1"/>
              <p:nvPr/>
            </p:nvSpPr>
            <p:spPr>
              <a:xfrm>
                <a:off x="6448044" y="3733462"/>
                <a:ext cx="2921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∪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80A30B-E90D-C1E7-D3D2-7115630430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044" y="3733462"/>
                <a:ext cx="2921184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742978-4AF5-E02B-C972-F2E6C312DAB2}"/>
                  </a:ext>
                </a:extLst>
              </p:cNvPr>
              <p:cNvSpPr txBox="1"/>
              <p:nvPr/>
            </p:nvSpPr>
            <p:spPr>
              <a:xfrm>
                <a:off x="2690516" y="5059024"/>
                <a:ext cx="6826997" cy="10502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⋃"/>
                          <m:subHide m:val="on"/>
                          <m:supHide m:val="o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:∀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.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∩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742978-4AF5-E02B-C972-F2E6C312D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0516" y="5059024"/>
                <a:ext cx="6826997" cy="10502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4815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3CAD6-40AF-A389-87B9-9FD74D47F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A14BC-E0C8-7754-44D3-7A8EDF766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Set Intersection</a:t>
            </a:r>
          </a:p>
        </p:txBody>
      </p:sp>
      <p:sp>
        <p:nvSpPr>
          <p:cNvPr id="8" name="Content Placeholder 14">
            <a:extLst>
              <a:ext uri="{FF2B5EF4-FFF2-40B4-BE49-F238E27FC236}">
                <a16:creationId xmlns:a16="http://schemas.microsoft.com/office/drawing/2014/main" id="{BAB1F88E-55F2-C9D7-10DB-8B4AF4280BC0}"/>
              </a:ext>
            </a:extLst>
          </p:cNvPr>
          <p:cNvSpPr txBox="1">
            <a:spLocks/>
          </p:cNvSpPr>
          <p:nvPr/>
        </p:nvSpPr>
        <p:spPr>
          <a:xfrm>
            <a:off x="838200" y="3286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5F65182-69DF-52E8-2B0E-5EB8E93120EB}"/>
                  </a:ext>
                </a:extLst>
              </p:cNvPr>
              <p:cNvSpPr/>
              <p:nvPr/>
            </p:nvSpPr>
            <p:spPr>
              <a:xfrm>
                <a:off x="4453128" y="2807208"/>
                <a:ext cx="2057400" cy="1956816"/>
              </a:xfrm>
              <a:prstGeom prst="ellipse">
                <a:avLst/>
              </a:prstGeom>
              <a:noFill/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5F65182-69DF-52E8-2B0E-5EB8E93120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128" y="2807208"/>
                <a:ext cx="2057400" cy="195681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317C5C5-9D6B-E063-4DCD-5DD5CC7837F0}"/>
                  </a:ext>
                </a:extLst>
              </p:cNvPr>
              <p:cNvSpPr/>
              <p:nvPr/>
            </p:nvSpPr>
            <p:spPr>
              <a:xfrm>
                <a:off x="5958840" y="2807208"/>
                <a:ext cx="2057400" cy="1956816"/>
              </a:xfrm>
              <a:prstGeom prst="ellipse">
                <a:avLst/>
              </a:prstGeom>
              <a:noFill/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317C5C5-9D6B-E063-4DCD-5DD5CC7837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840" y="2807208"/>
                <a:ext cx="2057400" cy="195681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4DFA9798-3915-9E63-7601-DAA9D9B2A5A5}"/>
                  </a:ext>
                </a:extLst>
              </p:cNvPr>
              <p:cNvSpPr/>
              <p:nvPr/>
            </p:nvSpPr>
            <p:spPr>
              <a:xfrm>
                <a:off x="5958840" y="3123121"/>
                <a:ext cx="551688" cy="1324990"/>
              </a:xfrm>
              <a:custGeom>
                <a:avLst/>
                <a:gdLst>
                  <a:gd name="csX0" fmla="*/ 275844 w 551688"/>
                  <a:gd name="csY0" fmla="*/ 0 h 1324990"/>
                  <a:gd name="csX1" fmla="*/ 376002 w 551688"/>
                  <a:gd name="csY1" fmla="*/ 115458 h 1324990"/>
                  <a:gd name="csX2" fmla="*/ 551688 w 551688"/>
                  <a:gd name="csY2" fmla="*/ 662495 h 1324990"/>
                  <a:gd name="csX3" fmla="*/ 376002 w 551688"/>
                  <a:gd name="csY3" fmla="*/ 1209533 h 1324990"/>
                  <a:gd name="csX4" fmla="*/ 275844 w 551688"/>
                  <a:gd name="csY4" fmla="*/ 1324990 h 1324990"/>
                  <a:gd name="csX5" fmla="*/ 175686 w 551688"/>
                  <a:gd name="csY5" fmla="*/ 1209533 h 1324990"/>
                  <a:gd name="csX6" fmla="*/ 0 w 551688"/>
                  <a:gd name="csY6" fmla="*/ 662495 h 1324990"/>
                  <a:gd name="csX7" fmla="*/ 175686 w 551688"/>
                  <a:gd name="csY7" fmla="*/ 115458 h 13249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551688" h="1324990">
                    <a:moveTo>
                      <a:pt x="275844" y="0"/>
                    </a:moveTo>
                    <a:lnTo>
                      <a:pt x="376002" y="115458"/>
                    </a:lnTo>
                    <a:cubicBezTo>
                      <a:pt x="486921" y="271613"/>
                      <a:pt x="551688" y="459860"/>
                      <a:pt x="551688" y="662495"/>
                    </a:cubicBezTo>
                    <a:cubicBezTo>
                      <a:pt x="551688" y="865130"/>
                      <a:pt x="486921" y="1053378"/>
                      <a:pt x="376002" y="1209533"/>
                    </a:cubicBezTo>
                    <a:lnTo>
                      <a:pt x="275844" y="1324990"/>
                    </a:lnTo>
                    <a:lnTo>
                      <a:pt x="175686" y="1209533"/>
                    </a:lnTo>
                    <a:cubicBezTo>
                      <a:pt x="64767" y="1053378"/>
                      <a:pt x="0" y="865130"/>
                      <a:pt x="0" y="662495"/>
                    </a:cubicBezTo>
                    <a:cubicBezTo>
                      <a:pt x="0" y="459860"/>
                      <a:pt x="64767" y="271613"/>
                      <a:pt x="175686" y="115458"/>
                    </a:cubicBezTo>
                    <a:close/>
                  </a:path>
                </a:pathLst>
              </a:custGeom>
              <a:solidFill>
                <a:schemeClr val="tx2">
                  <a:lumMod val="50000"/>
                  <a:lumOff val="50000"/>
                </a:schemeClr>
              </a:solid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14:m/>
              </a:p>
            </p:txBody>
          </p:sp>
        </mc:Choice>
        <mc:Fallback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4DFA9798-3915-9E63-7601-DAA9D9B2A5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840" y="3123121"/>
                <a:ext cx="551688" cy="1324990"/>
              </a:xfrm>
              <a:custGeom>
                <a:avLst/>
                <a:gdLst>
                  <a:gd name="csX0" fmla="*/ 275844 w 551688"/>
                  <a:gd name="csY0" fmla="*/ 0 h 1324990"/>
                  <a:gd name="csX1" fmla="*/ 376002 w 551688"/>
                  <a:gd name="csY1" fmla="*/ 115458 h 1324990"/>
                  <a:gd name="csX2" fmla="*/ 551688 w 551688"/>
                  <a:gd name="csY2" fmla="*/ 662495 h 1324990"/>
                  <a:gd name="csX3" fmla="*/ 376002 w 551688"/>
                  <a:gd name="csY3" fmla="*/ 1209533 h 1324990"/>
                  <a:gd name="csX4" fmla="*/ 275844 w 551688"/>
                  <a:gd name="csY4" fmla="*/ 1324990 h 1324990"/>
                  <a:gd name="csX5" fmla="*/ 175686 w 551688"/>
                  <a:gd name="csY5" fmla="*/ 1209533 h 1324990"/>
                  <a:gd name="csX6" fmla="*/ 0 w 551688"/>
                  <a:gd name="csY6" fmla="*/ 662495 h 1324990"/>
                  <a:gd name="csX7" fmla="*/ 175686 w 551688"/>
                  <a:gd name="csY7" fmla="*/ 115458 h 13249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551688" h="1324990">
                    <a:moveTo>
                      <a:pt x="275844" y="0"/>
                    </a:moveTo>
                    <a:lnTo>
                      <a:pt x="376002" y="115458"/>
                    </a:lnTo>
                    <a:cubicBezTo>
                      <a:pt x="486921" y="271613"/>
                      <a:pt x="551688" y="459860"/>
                      <a:pt x="551688" y="662495"/>
                    </a:cubicBezTo>
                    <a:cubicBezTo>
                      <a:pt x="551688" y="865130"/>
                      <a:pt x="486921" y="1053378"/>
                      <a:pt x="376002" y="1209533"/>
                    </a:cubicBezTo>
                    <a:lnTo>
                      <a:pt x="275844" y="1324990"/>
                    </a:lnTo>
                    <a:lnTo>
                      <a:pt x="175686" y="1209533"/>
                    </a:lnTo>
                    <a:cubicBezTo>
                      <a:pt x="64767" y="1053378"/>
                      <a:pt x="0" y="865130"/>
                      <a:pt x="0" y="662495"/>
                    </a:cubicBezTo>
                    <a:cubicBezTo>
                      <a:pt x="0" y="459860"/>
                      <a:pt x="64767" y="271613"/>
                      <a:pt x="175686" y="115458"/>
                    </a:cubicBez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9448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41D8E-4184-5902-3532-E220D425A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D9B86-ABB9-86CC-216C-6C15987B2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Set Union/Intersection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FFA400-401A-2545-A2F9-4E3C73852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5123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Theorem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: 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,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𝐶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 sets.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FFA400-401A-2545-A2F9-4E3C73852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51231"/>
              </a:xfrm>
              <a:blipFill>
                <a:blip r:embed="rId2"/>
                <a:stretch>
                  <a:fillRect l="-1217" t="-32000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695C049-B791-0F1D-447C-3C2BB0006F82}"/>
                  </a:ext>
                </a:extLst>
              </p:cNvPr>
              <p:cNvSpPr txBox="1"/>
              <p:nvPr/>
            </p:nvSpPr>
            <p:spPr>
              <a:xfrm>
                <a:off x="2320899" y="2644168"/>
                <a:ext cx="1978810" cy="7386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∪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∪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695C049-B791-0F1D-447C-3C2BB0006F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899" y="2644168"/>
                <a:ext cx="1978810" cy="738664"/>
              </a:xfrm>
              <a:prstGeom prst="rect">
                <a:avLst/>
              </a:prstGeom>
              <a:blipFill>
                <a:blip r:embed="rId3"/>
                <a:stretch>
                  <a:fillRect l="-3395" r="-3086" b="-16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C8EE727-921F-9FEB-1022-7B9E035703CF}"/>
                  </a:ext>
                </a:extLst>
              </p:cNvPr>
              <p:cNvSpPr txBox="1"/>
              <p:nvPr/>
            </p:nvSpPr>
            <p:spPr>
              <a:xfrm>
                <a:off x="1155471" y="3645835"/>
                <a:ext cx="4309869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∪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∪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US" sz="2400" b="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C8EE727-921F-9FEB-1022-7B9E035703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471" y="3645835"/>
                <a:ext cx="4309869" cy="738664"/>
              </a:xfrm>
              <a:prstGeom prst="rect">
                <a:avLst/>
              </a:prstGeom>
              <a:blipFill>
                <a:blip r:embed="rId4"/>
                <a:stretch>
                  <a:fillRect b="-16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3EA5BF-99CE-8E48-B687-644DAA14D21E}"/>
                  </a:ext>
                </a:extLst>
              </p:cNvPr>
              <p:cNvSpPr txBox="1"/>
              <p:nvPr/>
            </p:nvSpPr>
            <p:spPr>
              <a:xfrm>
                <a:off x="1155471" y="4647502"/>
                <a:ext cx="135636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∪∅=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3EA5BF-99CE-8E48-B687-644DAA14D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471" y="4647502"/>
                <a:ext cx="1356363" cy="369332"/>
              </a:xfrm>
              <a:prstGeom prst="rect">
                <a:avLst/>
              </a:prstGeom>
              <a:blipFill>
                <a:blip r:embed="rId5"/>
                <a:stretch>
                  <a:fillRect l="-6757" r="-6757" b="-163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2CE1D5E-EAB9-720A-1900-387A37531F03}"/>
                  </a:ext>
                </a:extLst>
              </p:cNvPr>
              <p:cNvSpPr txBox="1"/>
              <p:nvPr/>
            </p:nvSpPr>
            <p:spPr>
              <a:xfrm>
                <a:off x="1155471" y="5274429"/>
                <a:ext cx="4309869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∪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∩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∩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∪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2CE1D5E-EAB9-720A-1900-387A37531F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471" y="5274429"/>
                <a:ext cx="4309869" cy="738664"/>
              </a:xfrm>
              <a:prstGeom prst="rect">
                <a:avLst/>
              </a:prstGeom>
              <a:blipFill>
                <a:blip r:embed="rId6"/>
                <a:stretch>
                  <a:fillRect l="-2122" b="-2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7784087-3E95-FFA8-645D-51406630A5AE}"/>
                  </a:ext>
                </a:extLst>
              </p:cNvPr>
              <p:cNvSpPr txBox="1"/>
              <p:nvPr/>
            </p:nvSpPr>
            <p:spPr>
              <a:xfrm>
                <a:off x="4031254" y="4601335"/>
                <a:ext cx="152095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∩∅=∅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7784087-3E95-FFA8-645D-51406630A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1254" y="4601335"/>
                <a:ext cx="1520955" cy="461665"/>
              </a:xfrm>
              <a:prstGeom prst="rect">
                <a:avLst/>
              </a:prstGeom>
              <a:blipFill>
                <a:blip r:embed="rId7"/>
                <a:stretch>
                  <a:fillRect l="-400" r="-1200"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379963A4-8FD2-6F57-B481-8DC3FF88E06D}"/>
              </a:ext>
            </a:extLst>
          </p:cNvPr>
          <p:cNvSpPr txBox="1"/>
          <p:nvPr/>
        </p:nvSpPr>
        <p:spPr>
          <a:xfrm>
            <a:off x="6382512" y="2782668"/>
            <a:ext cx="2135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Commutativity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344B35-D506-4D2F-0067-916BB2579180}"/>
              </a:ext>
            </a:extLst>
          </p:cNvPr>
          <p:cNvSpPr txBox="1"/>
          <p:nvPr/>
        </p:nvSpPr>
        <p:spPr>
          <a:xfrm>
            <a:off x="6510751" y="3784335"/>
            <a:ext cx="18790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Associativity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FAA261-D6B2-117D-B5C6-3C4964B4CA95}"/>
              </a:ext>
            </a:extLst>
          </p:cNvPr>
          <p:cNvSpPr txBox="1"/>
          <p:nvPr/>
        </p:nvSpPr>
        <p:spPr>
          <a:xfrm>
            <a:off x="6639792" y="4601335"/>
            <a:ext cx="16209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Empty-Set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5600A9-FB42-26AF-4B76-0B44E00C1BD3}"/>
              </a:ext>
            </a:extLst>
          </p:cNvPr>
          <p:cNvSpPr txBox="1"/>
          <p:nvPr/>
        </p:nvSpPr>
        <p:spPr>
          <a:xfrm>
            <a:off x="6544415" y="5418335"/>
            <a:ext cx="18453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Distributivity</a:t>
            </a:r>
          </a:p>
        </p:txBody>
      </p:sp>
    </p:spTree>
    <p:extLst>
      <p:ext uri="{BB962C8B-B14F-4D97-AF65-F5344CB8AC3E}">
        <p14:creationId xmlns:p14="http://schemas.microsoft.com/office/powerpoint/2010/main" val="1378267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2" grpId="0"/>
      <p:bldP spid="14" grpId="0"/>
      <p:bldP spid="21" grpId="0"/>
      <p:bldP spid="22" grpId="0"/>
      <p:bldP spid="23" grpId="0"/>
      <p:bldP spid="24" grpId="0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5935C-3C44-2A45-5AC4-79770BC26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Set Union/Intersection Cardinality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70E74-1A36-F53A-BB31-29B56317B8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Theorem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: 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be sets.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∪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∩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70E74-1A36-F53A-BB31-29B56317B8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9595A4-4C1A-495C-00B3-51BB770AFDF9}"/>
                  </a:ext>
                </a:extLst>
              </p:cNvPr>
              <p:cNvSpPr txBox="1"/>
              <p:nvPr/>
            </p:nvSpPr>
            <p:spPr>
              <a:xfrm>
                <a:off x="2542032" y="3858768"/>
                <a:ext cx="227685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Elements appearing in either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9595A4-4C1A-495C-00B3-51BB770AFD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2032" y="3858768"/>
                <a:ext cx="2276856" cy="646331"/>
              </a:xfrm>
              <a:prstGeom prst="rect">
                <a:avLst/>
              </a:prstGeom>
              <a:blipFill>
                <a:blip r:embed="rId3"/>
                <a:stretch>
                  <a:fillRect l="-1070" t="-4717" r="-3476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5468E46-E244-B84C-A66B-250F91DF6EF6}"/>
                  </a:ext>
                </a:extLst>
              </p:cNvPr>
              <p:cNvSpPr txBox="1"/>
              <p:nvPr/>
            </p:nvSpPr>
            <p:spPr>
              <a:xfrm>
                <a:off x="4325112" y="4620799"/>
                <a:ext cx="227685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Elements appearing in either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5468E46-E244-B84C-A66B-250F91DF6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5112" y="4620799"/>
                <a:ext cx="2276856" cy="646331"/>
              </a:xfrm>
              <a:prstGeom prst="rect">
                <a:avLst/>
              </a:prstGeom>
              <a:blipFill>
                <a:blip r:embed="rId4"/>
                <a:stretch>
                  <a:fillRect l="-1340" t="-4717" r="-3485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057909C-AC60-5D2B-E1F0-1D6646FF0DDF}"/>
                  </a:ext>
                </a:extLst>
              </p:cNvPr>
              <p:cNvSpPr txBox="1"/>
              <p:nvPr/>
            </p:nvSpPr>
            <p:spPr>
              <a:xfrm>
                <a:off x="5696712" y="3858768"/>
                <a:ext cx="227685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Elements appearing in either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057909C-AC60-5D2B-E1F0-1D6646FF0D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6712" y="3858768"/>
                <a:ext cx="2276856" cy="646331"/>
              </a:xfrm>
              <a:prstGeom prst="rect">
                <a:avLst/>
              </a:prstGeom>
              <a:blipFill>
                <a:blip r:embed="rId5"/>
                <a:stretch>
                  <a:fillRect l="-1340" t="-4717" r="-3485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B31ED7-A777-4B92-44AE-7F11625AF73B}"/>
                  </a:ext>
                </a:extLst>
              </p:cNvPr>
              <p:cNvSpPr txBox="1"/>
              <p:nvPr/>
            </p:nvSpPr>
            <p:spPr>
              <a:xfrm>
                <a:off x="7973568" y="4343799"/>
                <a:ext cx="2276856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Elements that are “double counted” because they appear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B31ED7-A777-4B92-44AE-7F11625AF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3568" y="4343799"/>
                <a:ext cx="2276856" cy="1200329"/>
              </a:xfrm>
              <a:prstGeom prst="rect">
                <a:avLst/>
              </a:prstGeom>
              <a:blipFill>
                <a:blip r:embed="rId6"/>
                <a:stretch>
                  <a:fillRect t="-3061" b="-76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1F2538-96AF-7761-FF1C-5849C294C816}"/>
              </a:ext>
            </a:extLst>
          </p:cNvPr>
          <p:cNvCxnSpPr>
            <a:cxnSpLocks/>
          </p:cNvCxnSpPr>
          <p:nvPr/>
        </p:nvCxnSpPr>
        <p:spPr>
          <a:xfrm flipV="1">
            <a:off x="3785616" y="3191256"/>
            <a:ext cx="539496" cy="7230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E36B7BA-6431-39B2-3EE9-58F87CB93A97}"/>
              </a:ext>
            </a:extLst>
          </p:cNvPr>
          <p:cNvCxnSpPr>
            <a:cxnSpLocks/>
          </p:cNvCxnSpPr>
          <p:nvPr/>
        </p:nvCxnSpPr>
        <p:spPr>
          <a:xfrm flipV="1">
            <a:off x="5417820" y="3191256"/>
            <a:ext cx="269748" cy="14718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94A5EDB-6F29-EFFA-C7FE-54F8B017097D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6556248" y="3148974"/>
            <a:ext cx="278892" cy="7097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4B6EA8A-BBD9-70C7-9E0E-CF49D35C212A}"/>
              </a:ext>
            </a:extLst>
          </p:cNvPr>
          <p:cNvCxnSpPr>
            <a:cxnSpLocks/>
          </p:cNvCxnSpPr>
          <p:nvPr/>
        </p:nvCxnSpPr>
        <p:spPr>
          <a:xfrm flipH="1" flipV="1">
            <a:off x="7766304" y="3191256"/>
            <a:ext cx="1385316" cy="12295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9098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54BEA-6468-3289-57A2-CBE8B7E86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Disjoint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A0A462-ED43-E754-A9D1-2D33CE4FCE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2983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Definition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: 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be sets. We say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are disjoint if and only if no element appears in both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∩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=∅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marL="0" indent="0">
                  <a:buNone/>
                </a:pPr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We say a set of sets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 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}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is pair-wise disjoint if for 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𝑗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are disjoint.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A0A462-ED43-E754-A9D1-2D33CE4FC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298319"/>
              </a:xfrm>
              <a:blipFill>
                <a:blip r:embed="rId2"/>
                <a:stretch>
                  <a:fillRect l="-1217" t="-4497" r="-15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CA82778-1C7E-F741-F4C6-589A65903461}"/>
                  </a:ext>
                </a:extLst>
              </p:cNvPr>
              <p:cNvSpPr txBox="1"/>
              <p:nvPr/>
            </p:nvSpPr>
            <p:spPr>
              <a:xfrm>
                <a:off x="4273834" y="4615934"/>
                <a:ext cx="364433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1, 2</m:t>
                        </m:r>
                      </m:e>
                    </m:d>
                  </m:oMath>
                </a14:m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3, 4</m:t>
                        </m:r>
                      </m:e>
                    </m:d>
                  </m:oMath>
                </a14:m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disjoint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CA82778-1C7E-F741-F4C6-589A65903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834" y="4615934"/>
                <a:ext cx="3644331" cy="369332"/>
              </a:xfrm>
              <a:prstGeom prst="rect">
                <a:avLst/>
              </a:prstGeom>
              <a:blipFill>
                <a:blip r:embed="rId3"/>
                <a:stretch>
                  <a:fillRect t="-22951" r="-4181" b="-508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25A1E2-41B9-0EC2-9256-68A96703ECB4}"/>
                  </a:ext>
                </a:extLst>
              </p:cNvPr>
              <p:cNvSpPr txBox="1"/>
              <p:nvPr/>
            </p:nvSpPr>
            <p:spPr>
              <a:xfrm>
                <a:off x="3875487" y="5367528"/>
                <a:ext cx="444102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1, 2</m:t>
                        </m:r>
                      </m:e>
                    </m:d>
                  </m:oMath>
                </a14:m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2, 3, 4</m:t>
                        </m:r>
                      </m:e>
                    </m:d>
                  </m:oMath>
                </a14:m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not disjoint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25A1E2-41B9-0EC2-9256-68A96703EC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5487" y="5367528"/>
                <a:ext cx="4441024" cy="369332"/>
              </a:xfrm>
              <a:prstGeom prst="rect">
                <a:avLst/>
              </a:prstGeom>
              <a:blipFill>
                <a:blip r:embed="rId4"/>
                <a:stretch>
                  <a:fillRect t="-25000" r="-3434" b="-5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8676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F654B-435B-BF28-D888-6DFA1E54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Set Union Cardinality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C7D0AF-E4D9-733F-96F3-ECDCA1D800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Theorem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: 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 pair-wise disjoint sets.</a:t>
                </a:r>
              </a:p>
              <a:p>
                <a:pPr marL="0" indent="0">
                  <a:buNone/>
                </a:pPr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nary>
                            <m:naryPr>
                              <m:chr m:val="⋃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C7D0AF-E4D9-733F-96F3-ECDCA1D800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3834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FED18-C13E-882A-05F3-E85AF90A2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Set Difference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EF697D-956F-5D28-A013-65F3820FD2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32556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Definition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: 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bet sets. The set difference between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and B is the set containing exactly the elements that appear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but not appearing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≝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: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and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marL="0" indent="0">
                  <a:buNone/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EF697D-956F-5D28-A013-65F3820FD2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325563"/>
              </a:xfrm>
              <a:blipFill>
                <a:blip r:embed="rId2"/>
                <a:stretch>
                  <a:fillRect l="-1217" t="-7798" b="-64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591CBF0-FAF6-754F-DB6B-603A0E63889F}"/>
                  </a:ext>
                </a:extLst>
              </p:cNvPr>
              <p:cNvSpPr txBox="1"/>
              <p:nvPr/>
            </p:nvSpPr>
            <p:spPr>
              <a:xfrm>
                <a:off x="3936136" y="3752708"/>
                <a:ext cx="165654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=∅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591CBF0-FAF6-754F-DB6B-603A0E638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6136" y="3752708"/>
                <a:ext cx="1656544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444DABF-DD74-E411-BA8C-7FACB30854BA}"/>
                  </a:ext>
                </a:extLst>
              </p:cNvPr>
              <p:cNvSpPr txBox="1"/>
              <p:nvPr/>
            </p:nvSpPr>
            <p:spPr>
              <a:xfrm>
                <a:off x="6599322" y="3738257"/>
                <a:ext cx="165141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−∅=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444DABF-DD74-E411-BA8C-7FACB30854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9322" y="3738257"/>
                <a:ext cx="165141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693D8A-0B3B-DE8B-A68B-FD953F35EE78}"/>
                  </a:ext>
                </a:extLst>
              </p:cNvPr>
              <p:cNvSpPr txBox="1"/>
              <p:nvPr/>
            </p:nvSpPr>
            <p:spPr>
              <a:xfrm>
                <a:off x="4351672" y="5558727"/>
                <a:ext cx="348864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1,2,3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693D8A-0B3B-DE8B-A68B-FD953F35E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1672" y="5558727"/>
                <a:ext cx="3488647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DD287DF-4855-2A71-5B85-26CFFBC09033}"/>
                  </a:ext>
                </a:extLst>
              </p:cNvPr>
              <p:cNvSpPr txBox="1"/>
              <p:nvPr/>
            </p:nvSpPr>
            <p:spPr>
              <a:xfrm>
                <a:off x="4487926" y="4655717"/>
                <a:ext cx="32161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DD287DF-4855-2A71-5B85-26CFFBC090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7926" y="4655717"/>
                <a:ext cx="321613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1136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80233-F521-9604-B7EA-A54E58BD6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B39EB-BCCE-DF0C-00DE-8BD31A176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Set Difference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58064E7-5493-5E83-2A40-2224562AC176}"/>
                  </a:ext>
                </a:extLst>
              </p:cNvPr>
              <p:cNvSpPr/>
              <p:nvPr/>
            </p:nvSpPr>
            <p:spPr>
              <a:xfrm>
                <a:off x="4453128" y="2807208"/>
                <a:ext cx="2057400" cy="1956816"/>
              </a:xfrm>
              <a:prstGeom prst="ellipse">
                <a:avLst/>
              </a:prstGeom>
              <a:noFill/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58064E7-5493-5E83-2A40-2224562AC1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128" y="2807208"/>
                <a:ext cx="2057400" cy="195681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E86C1B6-4F21-34E2-C28E-FA4A29A3C3CF}"/>
                  </a:ext>
                </a:extLst>
              </p:cNvPr>
              <p:cNvSpPr/>
              <p:nvPr/>
            </p:nvSpPr>
            <p:spPr>
              <a:xfrm>
                <a:off x="5958840" y="2807208"/>
                <a:ext cx="2057400" cy="1956816"/>
              </a:xfrm>
              <a:prstGeom prst="ellipse">
                <a:avLst/>
              </a:prstGeom>
              <a:noFill/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E86C1B6-4F21-34E2-C28E-FA4A29A3C3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840" y="2807208"/>
                <a:ext cx="2057400" cy="195681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C97BF62-3E65-54F3-3672-533693CDED8A}"/>
                  </a:ext>
                </a:extLst>
              </p:cNvPr>
              <p:cNvSpPr/>
              <p:nvPr/>
            </p:nvSpPr>
            <p:spPr>
              <a:xfrm>
                <a:off x="4453128" y="2807208"/>
                <a:ext cx="2057400" cy="1956816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C97BF62-3E65-54F3-3672-533693CDED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128" y="2807208"/>
                <a:ext cx="2057400" cy="195681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819E609-58B3-76B4-A650-2416D3DABF9A}"/>
                  </a:ext>
                </a:extLst>
              </p:cNvPr>
              <p:cNvSpPr/>
              <p:nvPr/>
            </p:nvSpPr>
            <p:spPr>
              <a:xfrm>
                <a:off x="5958840" y="2807208"/>
                <a:ext cx="2057400" cy="1956816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819E609-58B3-76B4-A650-2416D3DABF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840" y="2807208"/>
                <a:ext cx="2057400" cy="195681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90DA848-EFAE-D599-D6CF-843995C96D28}"/>
                  </a:ext>
                </a:extLst>
              </p:cNvPr>
              <p:cNvSpPr/>
              <p:nvPr/>
            </p:nvSpPr>
            <p:spPr>
              <a:xfrm>
                <a:off x="4453128" y="2807208"/>
                <a:ext cx="2057400" cy="1956816"/>
              </a:xfrm>
              <a:prstGeom prst="ellipse">
                <a:avLst/>
              </a:prstGeom>
              <a:noFill/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90DA848-EFAE-D599-D6CF-843995C96D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128" y="2807208"/>
                <a:ext cx="2057400" cy="195681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1655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82ABC-29C5-9E81-B460-371A6F729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32772-644E-E1FC-387C-36A9FE66E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Set Difference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DA1495-715A-D6F8-422E-5374F52E87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1545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Theorem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: 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𝐶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bet sets.</a:t>
                </a:r>
              </a:p>
              <a:p>
                <a:pPr marL="0" indent="0">
                  <a:buNone/>
                </a:pP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𝐵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∪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𝐶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𝐴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𝐵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∩(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𝐶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sz="3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𝐴</m:t>
                      </m:r>
                      <m:r>
                        <a:rPr lang="en-US" sz="3600" i="1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𝐵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∩</m:t>
                          </m:r>
                          <m:r>
                            <a:rPr lang="en-US" sz="3600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𝐶</m:t>
                          </m:r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𝐴</m:t>
                          </m:r>
                          <m:r>
                            <a:rPr lang="en-US" sz="3600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r>
                            <a:rPr lang="en-US" sz="3600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𝐵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∪</m:t>
                      </m:r>
                      <m:r>
                        <a:rPr lang="en-US" sz="3600" i="1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r>
                        <a:rPr lang="en-US" sz="3600" i="1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𝐴</m:t>
                      </m:r>
                      <m:r>
                        <a:rPr lang="en-US" sz="3600" i="1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en-US" sz="3600" i="1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𝐶</m:t>
                      </m:r>
                      <m:r>
                        <a:rPr lang="en-US" sz="3600" i="1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sz="3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:endParaRPr lang="en-US" sz="3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DA1495-715A-D6F8-422E-5374F52E87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154551"/>
              </a:xfrm>
              <a:blipFill>
                <a:blip r:embed="rId2"/>
                <a:stretch>
                  <a:fillRect l="-1217" t="-2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16657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2F124-2FA2-C850-1E6A-C5748321C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1C8D1-9D90-1F99-2F48-4321B87B5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Symmetric Difference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F67DBE-54AC-2E28-A8FD-8D2893E8FA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3255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Definition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: 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bet sets. The symmetric difference between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and B is the set containing exactly the elements that appears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but not both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△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≝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: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xor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marL="0" indent="0">
                  <a:buNone/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F67DBE-54AC-2E28-A8FD-8D2893E8FA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325563"/>
              </a:xfrm>
              <a:blipFill>
                <a:blip r:embed="rId2"/>
                <a:stretch>
                  <a:fillRect l="-1217" t="-7798" r="-464" b="-64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E5A48E-E5B9-DCBB-2F5C-C454B3A6E1F2}"/>
                  </a:ext>
                </a:extLst>
              </p:cNvPr>
              <p:cNvSpPr txBox="1"/>
              <p:nvPr/>
            </p:nvSpPr>
            <p:spPr>
              <a:xfrm>
                <a:off x="3904076" y="3755317"/>
                <a:ext cx="168860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△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=∅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E5A48E-E5B9-DCBB-2F5C-C454B3A6E1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4076" y="3755317"/>
                <a:ext cx="1688603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37835E6-E4F2-41E2-E067-D3BF62AB0534}"/>
                  </a:ext>
                </a:extLst>
              </p:cNvPr>
              <p:cNvSpPr txBox="1"/>
              <p:nvPr/>
            </p:nvSpPr>
            <p:spPr>
              <a:xfrm>
                <a:off x="6599322" y="3738257"/>
                <a:ext cx="168860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△∅=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37835E6-E4F2-41E2-E067-D3BF62AB0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9322" y="3738257"/>
                <a:ext cx="168860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AF056C2-A52F-A43C-47EE-E536EB79358F}"/>
                  </a:ext>
                </a:extLst>
              </p:cNvPr>
              <p:cNvSpPr txBox="1"/>
              <p:nvPr/>
            </p:nvSpPr>
            <p:spPr>
              <a:xfrm>
                <a:off x="4199391" y="5472680"/>
                <a:ext cx="379321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1,2,3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△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1,2,4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AF056C2-A52F-A43C-47EE-E536EB793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9391" y="5472680"/>
                <a:ext cx="3793218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44D1D50-EFC3-FA9E-F7C6-D48434EA2D60}"/>
                  </a:ext>
                </a:extLst>
              </p:cNvPr>
              <p:cNvSpPr txBox="1"/>
              <p:nvPr/>
            </p:nvSpPr>
            <p:spPr>
              <a:xfrm>
                <a:off x="4199391" y="4655717"/>
                <a:ext cx="379321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△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1,2,3,4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44D1D50-EFC3-FA9E-F7C6-D48434EA2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9391" y="4655717"/>
                <a:ext cx="3793218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4054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C702F-764A-0CBB-8767-3F9D3E4DA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8F669-5B3F-A8EE-4690-C1257BEA3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Symmetric Difference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A68CD4D4-2F12-34F0-C4D6-15F256147DF5}"/>
                  </a:ext>
                </a:extLst>
              </p:cNvPr>
              <p:cNvSpPr/>
              <p:nvPr/>
            </p:nvSpPr>
            <p:spPr>
              <a:xfrm>
                <a:off x="4453128" y="2807208"/>
                <a:ext cx="2057400" cy="1956816"/>
              </a:xfrm>
              <a:prstGeom prst="ellipse">
                <a:avLst/>
              </a:prstGeom>
              <a:noFill/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A68CD4D4-2F12-34F0-C4D6-15F256147D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128" y="2807208"/>
                <a:ext cx="2057400" cy="195681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CC75426-1BA2-567D-3AB0-7A8CBEB65980}"/>
                  </a:ext>
                </a:extLst>
              </p:cNvPr>
              <p:cNvSpPr/>
              <p:nvPr/>
            </p:nvSpPr>
            <p:spPr>
              <a:xfrm>
                <a:off x="5958840" y="2807208"/>
                <a:ext cx="2057400" cy="1956816"/>
              </a:xfrm>
              <a:prstGeom prst="ellipse">
                <a:avLst/>
              </a:prstGeom>
              <a:noFill/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CC75426-1BA2-567D-3AB0-7A8CBEB659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840" y="2807208"/>
                <a:ext cx="2057400" cy="195681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5258A83-0E00-279D-EB18-431A76C3BBB8}"/>
                  </a:ext>
                </a:extLst>
              </p:cNvPr>
              <p:cNvSpPr/>
              <p:nvPr/>
            </p:nvSpPr>
            <p:spPr>
              <a:xfrm>
                <a:off x="4453128" y="2807208"/>
                <a:ext cx="2057400" cy="1956816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5258A83-0E00-279D-EB18-431A76C3BB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128" y="2807208"/>
                <a:ext cx="2057400" cy="195681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F73BD4BC-69E7-4419-FF00-09408BB457B3}"/>
                  </a:ext>
                </a:extLst>
              </p:cNvPr>
              <p:cNvSpPr/>
              <p:nvPr/>
            </p:nvSpPr>
            <p:spPr>
              <a:xfrm>
                <a:off x="5958840" y="2807208"/>
                <a:ext cx="2057400" cy="1956816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F73BD4BC-69E7-4419-FF00-09408BB457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840" y="2807208"/>
                <a:ext cx="2057400" cy="195681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97F37587-C478-547E-434F-F3835EBEEF67}"/>
                  </a:ext>
                </a:extLst>
              </p:cNvPr>
              <p:cNvSpPr/>
              <p:nvPr/>
            </p:nvSpPr>
            <p:spPr>
              <a:xfrm>
                <a:off x="5958840" y="3123121"/>
                <a:ext cx="551688" cy="1324990"/>
              </a:xfrm>
              <a:custGeom>
                <a:avLst/>
                <a:gdLst>
                  <a:gd name="csX0" fmla="*/ 275844 w 551688"/>
                  <a:gd name="csY0" fmla="*/ 0 h 1324990"/>
                  <a:gd name="csX1" fmla="*/ 376002 w 551688"/>
                  <a:gd name="csY1" fmla="*/ 115458 h 1324990"/>
                  <a:gd name="csX2" fmla="*/ 551688 w 551688"/>
                  <a:gd name="csY2" fmla="*/ 662495 h 1324990"/>
                  <a:gd name="csX3" fmla="*/ 376002 w 551688"/>
                  <a:gd name="csY3" fmla="*/ 1209532 h 1324990"/>
                  <a:gd name="csX4" fmla="*/ 275844 w 551688"/>
                  <a:gd name="csY4" fmla="*/ 1324990 h 1324990"/>
                  <a:gd name="csX5" fmla="*/ 175686 w 551688"/>
                  <a:gd name="csY5" fmla="*/ 1209532 h 1324990"/>
                  <a:gd name="csX6" fmla="*/ 0 w 551688"/>
                  <a:gd name="csY6" fmla="*/ 662495 h 1324990"/>
                  <a:gd name="csX7" fmla="*/ 175686 w 551688"/>
                  <a:gd name="csY7" fmla="*/ 115458 h 13249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551688" h="1324990">
                    <a:moveTo>
                      <a:pt x="275844" y="0"/>
                    </a:moveTo>
                    <a:lnTo>
                      <a:pt x="376002" y="115458"/>
                    </a:lnTo>
                    <a:cubicBezTo>
                      <a:pt x="486921" y="271613"/>
                      <a:pt x="551688" y="459860"/>
                      <a:pt x="551688" y="662495"/>
                    </a:cubicBezTo>
                    <a:cubicBezTo>
                      <a:pt x="551688" y="865130"/>
                      <a:pt x="486921" y="1053377"/>
                      <a:pt x="376002" y="1209532"/>
                    </a:cubicBezTo>
                    <a:lnTo>
                      <a:pt x="275844" y="1324990"/>
                    </a:lnTo>
                    <a:lnTo>
                      <a:pt x="175686" y="1209532"/>
                    </a:lnTo>
                    <a:cubicBezTo>
                      <a:pt x="64767" y="1053377"/>
                      <a:pt x="0" y="865130"/>
                      <a:pt x="0" y="662495"/>
                    </a:cubicBezTo>
                    <a:cubicBezTo>
                      <a:pt x="0" y="459860"/>
                      <a:pt x="64767" y="271613"/>
                      <a:pt x="175686" y="11545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14:m/>
              </a:p>
            </p:txBody>
          </p:sp>
        </mc:Choice>
        <mc:Fallback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97F37587-C478-547E-434F-F3835EBEEF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840" y="3123121"/>
                <a:ext cx="551688" cy="1324990"/>
              </a:xfrm>
              <a:custGeom>
                <a:avLst/>
                <a:gdLst>
                  <a:gd name="csX0" fmla="*/ 275844 w 551688"/>
                  <a:gd name="csY0" fmla="*/ 0 h 1324990"/>
                  <a:gd name="csX1" fmla="*/ 376002 w 551688"/>
                  <a:gd name="csY1" fmla="*/ 115458 h 1324990"/>
                  <a:gd name="csX2" fmla="*/ 551688 w 551688"/>
                  <a:gd name="csY2" fmla="*/ 662495 h 1324990"/>
                  <a:gd name="csX3" fmla="*/ 376002 w 551688"/>
                  <a:gd name="csY3" fmla="*/ 1209532 h 1324990"/>
                  <a:gd name="csX4" fmla="*/ 275844 w 551688"/>
                  <a:gd name="csY4" fmla="*/ 1324990 h 1324990"/>
                  <a:gd name="csX5" fmla="*/ 175686 w 551688"/>
                  <a:gd name="csY5" fmla="*/ 1209532 h 1324990"/>
                  <a:gd name="csX6" fmla="*/ 0 w 551688"/>
                  <a:gd name="csY6" fmla="*/ 662495 h 1324990"/>
                  <a:gd name="csX7" fmla="*/ 175686 w 551688"/>
                  <a:gd name="csY7" fmla="*/ 115458 h 13249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551688" h="1324990">
                    <a:moveTo>
                      <a:pt x="275844" y="0"/>
                    </a:moveTo>
                    <a:lnTo>
                      <a:pt x="376002" y="115458"/>
                    </a:lnTo>
                    <a:cubicBezTo>
                      <a:pt x="486921" y="271613"/>
                      <a:pt x="551688" y="459860"/>
                      <a:pt x="551688" y="662495"/>
                    </a:cubicBezTo>
                    <a:cubicBezTo>
                      <a:pt x="551688" y="865130"/>
                      <a:pt x="486921" y="1053377"/>
                      <a:pt x="376002" y="1209532"/>
                    </a:cubicBezTo>
                    <a:lnTo>
                      <a:pt x="275844" y="1324990"/>
                    </a:lnTo>
                    <a:lnTo>
                      <a:pt x="175686" y="1209532"/>
                    </a:lnTo>
                    <a:cubicBezTo>
                      <a:pt x="64767" y="1053377"/>
                      <a:pt x="0" y="865130"/>
                      <a:pt x="0" y="662495"/>
                    </a:cubicBezTo>
                    <a:cubicBezTo>
                      <a:pt x="0" y="459860"/>
                      <a:pt x="64767" y="271613"/>
                      <a:pt x="175686" y="115458"/>
                    </a:cubicBez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0624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876A4-4C52-22E9-3D9D-7C78B4C64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D6249-523D-B95F-2926-298A591B7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Symmetric Difference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E0AF1A-0003-2064-139B-FC122B3FFD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1545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Theorem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: 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bet sets.</a:t>
                </a:r>
              </a:p>
              <a:p>
                <a:pPr marL="0" indent="0">
                  <a:buNone/>
                </a:pPr>
                <a:endParaRPr lang="en-US" sz="9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△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𝐵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𝐴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∪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𝐵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−(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∩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𝐵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sz="3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E0AF1A-0003-2064-139B-FC122B3FFD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154551"/>
              </a:xfrm>
              <a:blipFill>
                <a:blip r:embed="rId2"/>
                <a:stretch>
                  <a:fillRect l="-1217" t="-2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57584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31DBE-B104-5269-496C-D49FB2356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50B10-4C55-C8D0-A998-FFE64748F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Cartesian Product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72BB3E-7936-7D6A-DB15-ED2B7BDADF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86839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Theorem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: 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bet sets. The cartesian product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set the contains all ordered pairs whose first element comes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and second element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𝐵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0" indent="0">
                  <a:buNone/>
                </a:pPr>
                <a:endParaRPr lang="en-US" sz="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𝐴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×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𝐵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≝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,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: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𝑥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∈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𝐴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and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𝑦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∈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sz="3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72BB3E-7936-7D6A-DB15-ED2B7BDADF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86839"/>
              </a:xfrm>
              <a:blipFill>
                <a:blip r:embed="rId2"/>
                <a:stretch>
                  <a:fillRect l="-1217" t="-77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B319C8-A2D1-9030-6F37-0EF96DECCA1D}"/>
                  </a:ext>
                </a:extLst>
              </p:cNvPr>
              <p:cNvSpPr txBox="1"/>
              <p:nvPr/>
            </p:nvSpPr>
            <p:spPr>
              <a:xfrm>
                <a:off x="3637859" y="3986935"/>
                <a:ext cx="164019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∅×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=∅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B319C8-A2D1-9030-6F37-0EF96DECCA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859" y="3986935"/>
                <a:ext cx="1640193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8F0D7B1-61B9-5350-619D-91D5A66854CC}"/>
                  </a:ext>
                </a:extLst>
              </p:cNvPr>
              <p:cNvSpPr txBox="1"/>
              <p:nvPr/>
            </p:nvSpPr>
            <p:spPr>
              <a:xfrm>
                <a:off x="6913948" y="3986934"/>
                <a:ext cx="164019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×∅=∅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8F0D7B1-61B9-5350-619D-91D5A6685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948" y="3986934"/>
                <a:ext cx="164019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8DA986-BD7B-E578-F580-26BCA3DB50A8}"/>
                  </a:ext>
                </a:extLst>
              </p:cNvPr>
              <p:cNvSpPr txBox="1"/>
              <p:nvPr/>
            </p:nvSpPr>
            <p:spPr>
              <a:xfrm>
                <a:off x="3637859" y="4539193"/>
                <a:ext cx="4916282" cy="8322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d>
                              </m:e>
                              <m:e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d>
                              </m:e>
                              <m:e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8DA986-BD7B-E578-F580-26BCA3DB5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859" y="4539193"/>
                <a:ext cx="4916282" cy="83221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C84C4B1-942B-C325-672C-C4136E125972}"/>
                  </a:ext>
                </a:extLst>
              </p:cNvPr>
              <p:cNvSpPr txBox="1"/>
              <p:nvPr/>
            </p:nvSpPr>
            <p:spPr>
              <a:xfrm>
                <a:off x="3637859" y="5660659"/>
                <a:ext cx="4916282" cy="8322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e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,2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,1</m:t>
                                    </m:r>
                                  </m:e>
                                </m:d>
                              </m:e>
                              <m:e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,2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C84C4B1-942B-C325-672C-C4136E125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859" y="5660659"/>
                <a:ext cx="4916282" cy="83221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808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59C2B-BC20-0239-9816-309201417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19C2E-4841-EA5E-A061-E5015FBE5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Cartesian Product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09867A9-5E75-F928-211D-B4AA4F3310E8}"/>
              </a:ext>
            </a:extLst>
          </p:cNvPr>
          <p:cNvSpPr/>
          <p:nvPr/>
        </p:nvSpPr>
        <p:spPr>
          <a:xfrm>
            <a:off x="4709160" y="3975322"/>
            <a:ext cx="1568549" cy="457200"/>
          </a:xfrm>
          <a:prstGeom prst="ellipse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2C178CC-483D-9017-14DF-4F15FE87F951}"/>
              </a:ext>
            </a:extLst>
          </p:cNvPr>
          <p:cNvSpPr/>
          <p:nvPr/>
        </p:nvSpPr>
        <p:spPr>
          <a:xfrm>
            <a:off x="4285501" y="2487168"/>
            <a:ext cx="269748" cy="1636776"/>
          </a:xfrm>
          <a:prstGeom prst="ellipse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Model 12" descr="Sphere">
                <a:extLst>
                  <a:ext uri="{FF2B5EF4-FFF2-40B4-BE49-F238E27FC236}">
                    <a16:creationId xmlns:a16="http://schemas.microsoft.com/office/drawing/2014/main" id="{DBC02200-36B0-F26E-5E77-59984F4B2E5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06139161"/>
                  </p:ext>
                </p:extLst>
              </p:nvPr>
            </p:nvGraphicFramePr>
            <p:xfrm>
              <a:off x="4555248" y="2407189"/>
              <a:ext cx="1777720" cy="1796733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1777720" cy="1796733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 ax="-10500545" ay="-1101227" az="10705498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312764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Model 12" descr="Sphere">
                <a:extLst>
                  <a:ext uri="{FF2B5EF4-FFF2-40B4-BE49-F238E27FC236}">
                    <a16:creationId xmlns:a16="http://schemas.microsoft.com/office/drawing/2014/main" id="{DBC02200-36B0-F26E-5E77-59984F4B2E5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55248" y="2407189"/>
                <a:ext cx="1777720" cy="17967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4DB88F-16FF-DE1D-8ACE-C5BB634B4346}"/>
                  </a:ext>
                </a:extLst>
              </p:cNvPr>
              <p:cNvSpPr txBox="1"/>
              <p:nvPr/>
            </p:nvSpPr>
            <p:spPr>
              <a:xfrm>
                <a:off x="4227570" y="3120890"/>
                <a:ext cx="3840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4DB88F-16FF-DE1D-8ACE-C5BB634B4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570" y="3120890"/>
                <a:ext cx="384080" cy="369332"/>
              </a:xfrm>
              <a:prstGeom prst="rect">
                <a:avLst/>
              </a:prstGeom>
              <a:blipFill>
                <a:blip r:embed="rId4"/>
                <a:stretch>
                  <a:fillRect t="-11475" r="-1718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85C875-0BB7-E1D0-E5AD-72A6EA1671BE}"/>
                  </a:ext>
                </a:extLst>
              </p:cNvPr>
              <p:cNvSpPr txBox="1"/>
              <p:nvPr/>
            </p:nvSpPr>
            <p:spPr>
              <a:xfrm>
                <a:off x="5246874" y="4019256"/>
                <a:ext cx="3944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85C875-0BB7-E1D0-E5AD-72A6EA167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6874" y="4019256"/>
                <a:ext cx="394467" cy="369332"/>
              </a:xfrm>
              <a:prstGeom prst="rect">
                <a:avLst/>
              </a:prstGeom>
              <a:blipFill>
                <a:blip r:embed="rId5"/>
                <a:stretch>
                  <a:fillRect t="-9836" r="-18750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598EEA0-470B-DA42-7D83-FE1F8D182FB1}"/>
                  </a:ext>
                </a:extLst>
              </p:cNvPr>
              <p:cNvSpPr txBox="1"/>
              <p:nvPr/>
            </p:nvSpPr>
            <p:spPr>
              <a:xfrm>
                <a:off x="5038964" y="3120890"/>
                <a:ext cx="8102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598EEA0-470B-DA42-7D83-FE1F8D182F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8964" y="3120890"/>
                <a:ext cx="810286" cy="369332"/>
              </a:xfrm>
              <a:prstGeom prst="rect">
                <a:avLst/>
              </a:prstGeom>
              <a:blipFill>
                <a:blip r:embed="rId6"/>
                <a:stretch>
                  <a:fillRect t="-11475" r="-8271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4197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1AF9E3-2D7F-0F90-65F4-17B464F5F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77646"/>
            <a:ext cx="10515600" cy="550270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Group Exercises</a:t>
            </a:r>
          </a:p>
          <a:p>
            <a:pPr marL="0" indent="0" algn="ctr">
              <a:buNone/>
            </a:pP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Form groups of 3-4</a:t>
            </a:r>
            <a:endParaRPr lang="en-US" sz="6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2076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2691</TotalTime>
  <Words>673</Words>
  <Application>Microsoft Office PowerPoint</Application>
  <PresentationFormat>Widescreen</PresentationFormat>
  <Paragraphs>104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Office Theme</vt:lpstr>
      <vt:lpstr>Set Operations February 11, 2026</vt:lpstr>
      <vt:lpstr>Agenda</vt:lpstr>
      <vt:lpstr>Set Union</vt:lpstr>
      <vt:lpstr>Set Union</vt:lpstr>
      <vt:lpstr>Set Intersection</vt:lpstr>
      <vt:lpstr>Set Intersection</vt:lpstr>
      <vt:lpstr>Set Union/Intersection Properties</vt:lpstr>
      <vt:lpstr>Set Union/Intersection Cardinality</vt:lpstr>
      <vt:lpstr>Disjoint</vt:lpstr>
      <vt:lpstr>Set Union Cardinality</vt:lpstr>
      <vt:lpstr>Set Difference</vt:lpstr>
      <vt:lpstr>Set Difference</vt:lpstr>
      <vt:lpstr>Set Difference</vt:lpstr>
      <vt:lpstr>Symmetric Difference</vt:lpstr>
      <vt:lpstr>Symmetric Difference</vt:lpstr>
      <vt:lpstr>Symmetric Difference</vt:lpstr>
      <vt:lpstr>Cartesian Product</vt:lpstr>
      <vt:lpstr>Cartesian Product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Definition January 16, 2026</dc:title>
  <dc:creator>Charlie MURPHY</dc:creator>
  <cp:lastModifiedBy>Charlie Murphy</cp:lastModifiedBy>
  <cp:revision>18</cp:revision>
  <dcterms:created xsi:type="dcterms:W3CDTF">2026-01-16T17:57:13Z</dcterms:created>
  <dcterms:modified xsi:type="dcterms:W3CDTF">2026-02-11T08:11:16Z</dcterms:modified>
</cp:coreProperties>
</file>