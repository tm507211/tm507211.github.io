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73" r:id="rId4"/>
    <p:sldId id="274" r:id="rId5"/>
    <p:sldId id="275" r:id="rId6"/>
    <p:sldId id="277" r:id="rId7"/>
    <p:sldId id="276" r:id="rId8"/>
    <p:sldId id="278" r:id="rId9"/>
    <p:sldId id="279" r:id="rId10"/>
    <p:sldId id="280" r:id="rId11"/>
    <p:sldId id="281" r:id="rId12"/>
    <p:sldId id="262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A7326B7-5200-4CD9-AB61-57E14B8A6EBE}">
          <p14:sldIdLst>
            <p14:sldId id="256"/>
            <p14:sldId id="257"/>
            <p14:sldId id="273"/>
            <p14:sldId id="274"/>
            <p14:sldId id="275"/>
            <p14:sldId id="277"/>
            <p14:sldId id="276"/>
            <p14:sldId id="278"/>
            <p14:sldId id="279"/>
            <p14:sldId id="280"/>
            <p14:sldId id="281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224"/>
    <p:restoredTop sz="94829"/>
  </p:normalViewPr>
  <p:slideViewPr>
    <p:cSldViewPr snapToGrid="0">
      <p:cViewPr varScale="1">
        <p:scale>
          <a:sx n="121" d="100"/>
          <a:sy n="121" d="100"/>
        </p:scale>
        <p:origin x="200" y="8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930911-D214-D045-9349-C37725674895}" type="datetimeFigureOut">
              <a:rPr lang="en-US" smtClean="0"/>
              <a:t>3/4/26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2961A4-95F2-894E-ADC5-DD1F6E908F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2995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B5F3E-3B5A-D75A-BD4D-F730B1723D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CBB222-6649-719C-9325-1F36E18AB0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903515-C1F8-453F-0EC6-51AA2C7A1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00130-2E42-9F4E-B9EA-739EF1E7DBD9}" type="datetimeFigureOut">
              <a:rPr lang="en-US" smtClean="0"/>
              <a:t>3/4/26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618CDE-3F47-EDF4-DC0A-3961C0818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C3E81A-FFDE-B721-CD1E-8F4DF700E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DBBDD-990D-2D45-A0F6-66A37E9E47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9403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0B8D5-26A3-EBE3-4E7F-AAD5E4FA3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6B45CA-D54D-699A-76B5-4F0844DBCF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381831-8FAA-6066-BF8E-81CC6F10D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00130-2E42-9F4E-B9EA-739EF1E7DBD9}" type="datetimeFigureOut">
              <a:rPr lang="en-US" smtClean="0"/>
              <a:t>3/4/26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8E2452-7B5D-A849-6C01-7274000D7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CB564A-7A03-C6F6-F086-2432409A8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DBBDD-990D-2D45-A0F6-66A37E9E47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0748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7E357-6679-D94B-3077-7CD86B168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6CE16D-C6DB-A4BD-D8A8-5DF441199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16CECE-8E10-70CE-9C49-296C0E3F6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00130-2E42-9F4E-B9EA-739EF1E7DBD9}" type="datetimeFigureOut">
              <a:rPr lang="en-US" smtClean="0"/>
              <a:t>3/4/26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18E6D8-07D0-5A7C-2429-11F82ADB8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1CECBD-59AE-2F7D-875F-F980C9A0F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DBBDD-990D-2D45-A0F6-66A37E9E47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6896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45976-4201-5230-1292-88B31927C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0E06A4-2D27-B445-C2AE-4DFE1F1B58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F12955-52B7-7BAD-57BE-516E892B25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E9ACBD-4913-8B30-DA1E-3856DA65C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00130-2E42-9F4E-B9EA-739EF1E7DBD9}" type="datetimeFigureOut">
              <a:rPr lang="en-US" smtClean="0"/>
              <a:t>3/4/26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003733-97C9-CB33-4679-932A852A6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620720-8859-A269-160F-EC304CD91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DBBDD-990D-2D45-A0F6-66A37E9E47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859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B9FEB4-D142-81F7-5D72-B998B0FFD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29B809-1D4B-25FB-A392-4AD5E2738D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247819-DD45-C145-4884-FD56DB1315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A84147-EF4B-84F7-5107-72EAD152C7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0DC25E-4155-C332-2692-B4CDA12B27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C6E4217-32CE-6EDB-822C-C0818C731C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00130-2E42-9F4E-B9EA-739EF1E7DBD9}" type="datetimeFigureOut">
              <a:rPr lang="en-US" smtClean="0"/>
              <a:t>3/4/26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9ABF66-BC23-02A7-0046-74A3E798A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B613106-05AE-7254-9C13-0FA7121C5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DBBDD-990D-2D45-A0F6-66A37E9E47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2422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14BAE-848A-5F54-3A53-DE23D45C4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8DFFEE-FF57-2D6E-082B-512B8CF6A2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00130-2E42-9F4E-B9EA-739EF1E7DBD9}" type="datetimeFigureOut">
              <a:rPr lang="en-US" smtClean="0"/>
              <a:t>3/4/26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7220EE-2708-9A84-DF28-110E84C12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89D6CE-B64C-C538-21DF-D8291F940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DBBDD-990D-2D45-A0F6-66A37E9E47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0090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EED71C6-356D-E558-4174-EA934A116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00130-2E42-9F4E-B9EA-739EF1E7DBD9}" type="datetimeFigureOut">
              <a:rPr lang="en-US" smtClean="0"/>
              <a:t>3/4/26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AF3206-B9DA-3961-3B09-B5610A499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E8AA17-E9DA-FAC3-C9B5-09B1B1AA1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DBBDD-990D-2D45-A0F6-66A37E9E47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4947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44BA2-B496-A5AD-8AAA-95FA8615E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EACE26-C855-0D28-4D15-3CDFC2752C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364E0B-1DC0-3C0D-F4A2-D1C33C2BA5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4F5CE1-474B-EB3C-76AD-92081E569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00130-2E42-9F4E-B9EA-739EF1E7DBD9}" type="datetimeFigureOut">
              <a:rPr lang="en-US" smtClean="0"/>
              <a:t>3/4/26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534E6B-F034-7CA6-EC33-50AF78497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50DB7E-AA5F-DE24-0EC3-0396E2AC8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DBBDD-990D-2D45-A0F6-66A37E9E47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6467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3FA7B6-1B0E-1E9A-FF73-2B29E7FC4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F13D163-10D6-DE76-B416-097CDD6FFB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0D9EC6-4306-AA87-72BC-96A4389990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B74A75-C80D-3EDD-A7E3-736CCF13D4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00130-2E42-9F4E-B9EA-739EF1E7DBD9}" type="datetimeFigureOut">
              <a:rPr lang="en-US" smtClean="0"/>
              <a:t>3/4/26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7D5F45-E11B-2C01-93C6-D6EC029DB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9A8749-4563-07C6-5150-619BE3814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DBBDD-990D-2D45-A0F6-66A37E9E47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9628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92E73-0654-0FC4-FA57-790699391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8A1B91-CFDE-D11E-FF7B-93DBE60094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5845D3-A54F-0C5E-1122-1EFC709E0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00130-2E42-9F4E-B9EA-739EF1E7DBD9}" type="datetimeFigureOut">
              <a:rPr lang="en-US" smtClean="0"/>
              <a:t>3/4/26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B3C6E3-06AC-2CAD-5190-8EC8B932F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B66BF5-0B99-2F57-4FCF-CCAE7570B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DBBDD-990D-2D45-A0F6-66A37E9E47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4750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8F03C9B-F8AB-173A-C3DF-64A7E52181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77A583-EEE8-5F6B-1B72-A14AE29993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A5FB26-E673-C15D-ACE1-BBA948D43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00130-2E42-9F4E-B9EA-739EF1E7DBD9}" type="datetimeFigureOut">
              <a:rPr lang="en-US" smtClean="0"/>
              <a:t>3/4/26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76D78F-8C1D-14A4-FB46-46EAAA548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2E79D3-CE88-9D52-A16B-738A06771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DBBDD-990D-2D45-A0F6-66A37E9E47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9098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9E7AE9-6ED5-5836-3F2B-3A1E04AA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A079C4-773A-4290-F256-2E91752B09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234355-216E-2F08-CFF1-B3CFFD9115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900130-2E42-9F4E-B9EA-739EF1E7DBD9}" type="datetimeFigureOut">
              <a:rPr lang="en-US" smtClean="0"/>
              <a:t>3/4/26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4052C4-72E0-9480-A591-D582C5D4BE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9CA343-A6B2-4A4A-89B2-C914047658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CDBBDD-990D-2D45-A0F6-66A37E9E47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30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5E992-0B6F-C532-4CDC-01C88B584C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2968" y="1666235"/>
            <a:ext cx="9706062" cy="1352389"/>
          </a:xfrm>
        </p:spPr>
        <p:txBody>
          <a:bodyPr>
            <a:normAutofit/>
          </a:bodyPr>
          <a:lstStyle/>
          <a:p>
            <a:pPr algn="l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Recurrence Relations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March 4, 2026</a:t>
            </a:r>
            <a:endParaRPr lang="en-US" sz="7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3B3C38-0311-0A88-4B39-23CF5C009D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42968" y="3779284"/>
            <a:ext cx="9144000" cy="1655762"/>
          </a:xfrm>
        </p:spPr>
        <p:txBody>
          <a:bodyPr/>
          <a:lstStyle/>
          <a:p>
            <a:pPr algn="l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CSCI 246: Discrete Structures</a:t>
            </a:r>
          </a:p>
          <a:p>
            <a:pPr algn="l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Textbook Reference: Ch 4. Sec 23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C46AF35-1070-5310-AD82-FAFFE7E3F17E}"/>
              </a:ext>
            </a:extLst>
          </p:cNvPr>
          <p:cNvCxnSpPr/>
          <p:nvPr/>
        </p:nvCxnSpPr>
        <p:spPr>
          <a:xfrm>
            <a:off x="1242968" y="3429000"/>
            <a:ext cx="9706063" cy="0"/>
          </a:xfrm>
          <a:prstGeom prst="line">
            <a:avLst/>
          </a:prstGeom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61386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F536E-B36C-FFF5-92CE-C10A8003E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918EBE-B810-7F46-1CA1-4FCD6ED020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Lecture (~ 10 minutes)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Group Exercise (~40 minutes)</a:t>
            </a:r>
          </a:p>
        </p:txBody>
      </p:sp>
    </p:spTree>
    <p:extLst>
      <p:ext uri="{BB962C8B-B14F-4D97-AF65-F5344CB8AC3E}">
        <p14:creationId xmlns:p14="http://schemas.microsoft.com/office/powerpoint/2010/main" val="6609482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BBE9D-9E02-2458-2BFB-839EE0AF0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Recurrence Relations</a:t>
            </a:r>
          </a:p>
        </p:txBody>
      </p:sp>
      <p:sp>
        <p:nvSpPr>
          <p:cNvPr id="3" name="Content Placeholder 14">
            <a:extLst>
              <a:ext uri="{FF2B5EF4-FFF2-40B4-BE49-F238E27FC236}">
                <a16:creationId xmlns:a16="http://schemas.microsoft.com/office/drawing/2014/main" id="{5E777AF2-08C1-87E3-A452-9D031C3B14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14788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Definition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A 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recurrence relation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is an equation that defines a sequence in terms of previous terms.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4ADDD42-D8A7-79DF-0170-CE007E38BDC7}"/>
                  </a:ext>
                </a:extLst>
              </p:cNvPr>
              <p:cNvSpPr txBox="1"/>
              <p:nvPr/>
            </p:nvSpPr>
            <p:spPr>
              <a:xfrm>
                <a:off x="838200" y="3895995"/>
                <a:ext cx="1933956" cy="73866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sz="2400" b="0" dirty="0"/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400" b="0" dirty="0"/>
                  <a:t> 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4ADDD42-D8A7-79DF-0170-CE007E38BD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895995"/>
                <a:ext cx="1933956" cy="738664"/>
              </a:xfrm>
              <a:prstGeom prst="rect">
                <a:avLst/>
              </a:prstGeom>
              <a:blipFill>
                <a:blip r:embed="rId2"/>
                <a:stretch>
                  <a:fillRect l="-4101" r="-2839" b="-57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04FCEED-64D6-3EB7-5916-C10CF2542213}"/>
                  </a:ext>
                </a:extLst>
              </p:cNvPr>
              <p:cNvSpPr txBox="1"/>
              <p:nvPr/>
            </p:nvSpPr>
            <p:spPr>
              <a:xfrm>
                <a:off x="3277552" y="3895995"/>
                <a:ext cx="2206752" cy="73866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+2</m:t>
                    </m:r>
                  </m:oMath>
                </a14:m>
                <a:r>
                  <a:rPr lang="en-US" sz="2400" b="0" dirty="0"/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US" sz="2400" b="0" dirty="0"/>
                  <a:t>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04FCEED-64D6-3EB7-5916-C10CF25422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7552" y="3895995"/>
                <a:ext cx="2206752" cy="738664"/>
              </a:xfrm>
              <a:prstGeom prst="rect">
                <a:avLst/>
              </a:prstGeom>
              <a:blipFill>
                <a:blip r:embed="rId3"/>
                <a:stretch>
                  <a:fillRect l="-3591" b="-57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EB0254E-5422-416D-F672-97ADE592D0E0}"/>
                  </a:ext>
                </a:extLst>
              </p:cNvPr>
              <p:cNvSpPr txBox="1"/>
              <p:nvPr/>
            </p:nvSpPr>
            <p:spPr>
              <a:xfrm>
                <a:off x="6006941" y="3895995"/>
                <a:ext cx="2715768" cy="110799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+2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</m:sub>
                    </m:sSub>
                  </m:oMath>
                </a14:m>
                <a:r>
                  <a:rPr lang="en-US" sz="2400" b="0" dirty="0"/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US" sz="2400" b="0" i="1" dirty="0">
                    <a:latin typeface="Cambria Math" panose="02040503050406030204" pitchFamily="18" charset="0"/>
                  </a:rPr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sz="2400" b="0" dirty="0"/>
                  <a:t> 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EB0254E-5422-416D-F672-97ADE592D0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6941" y="3895995"/>
                <a:ext cx="2715768" cy="1107996"/>
              </a:xfrm>
              <a:prstGeom prst="rect">
                <a:avLst/>
              </a:prstGeom>
              <a:blipFill>
                <a:blip r:embed="rId4"/>
                <a:stretch>
                  <a:fillRect l="-2691" r="-448" b="-32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AFF1BC2-1480-82EF-0BC2-147A4F87DA8F}"/>
                  </a:ext>
                </a:extLst>
              </p:cNvPr>
              <p:cNvSpPr txBox="1"/>
              <p:nvPr/>
            </p:nvSpPr>
            <p:spPr>
              <a:xfrm>
                <a:off x="9245346" y="3895995"/>
                <a:ext cx="2343912" cy="110799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</m:sub>
                    </m:sSub>
                  </m:oMath>
                </a14:m>
                <a:r>
                  <a:rPr lang="en-US" sz="2400" b="0" dirty="0"/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2400" b="0" i="1" dirty="0">
                    <a:latin typeface="Cambria Math" panose="02040503050406030204" pitchFamily="18" charset="0"/>
                  </a:rPr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2400" b="0" dirty="0"/>
                  <a:t> 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AFF1BC2-1480-82EF-0BC2-147A4F87DA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45346" y="3895995"/>
                <a:ext cx="2343912" cy="1107996"/>
              </a:xfrm>
              <a:prstGeom prst="rect">
                <a:avLst/>
              </a:prstGeom>
              <a:blipFill>
                <a:blip r:embed="rId5"/>
                <a:stretch>
                  <a:fillRect l="-3385" r="-2344" b="-32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3F5E9F0F-AB4C-E8D4-27CA-220C30354CF7}"/>
              </a:ext>
            </a:extLst>
          </p:cNvPr>
          <p:cNvSpPr txBox="1"/>
          <p:nvPr/>
        </p:nvSpPr>
        <p:spPr>
          <a:xfrm>
            <a:off x="728797" y="3242548"/>
            <a:ext cx="46602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First-Order (linear) Recurrence Relations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676628-B5B0-7F8F-A80F-752E7AAA8C94}"/>
              </a:ext>
            </a:extLst>
          </p:cNvPr>
          <p:cNvSpPr txBox="1"/>
          <p:nvPr/>
        </p:nvSpPr>
        <p:spPr>
          <a:xfrm>
            <a:off x="6225871" y="3242548"/>
            <a:ext cx="4993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Second-Order (linear) Recurrence Relations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664B1E4-0575-91C8-C0DC-B95379D16EDD}"/>
                  </a:ext>
                </a:extLst>
              </p:cNvPr>
              <p:cNvSpPr txBox="1"/>
              <p:nvPr/>
            </p:nvSpPr>
            <p:spPr>
              <a:xfrm>
                <a:off x="1629705" y="5635555"/>
                <a:ext cx="2530886" cy="63010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664B1E4-0575-91C8-C0DC-B95379D16E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9705" y="5635555"/>
                <a:ext cx="2530886" cy="63010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96C544A-9D3D-312D-9DD1-7167959C06F0}"/>
                  </a:ext>
                </a:extLst>
              </p:cNvPr>
              <p:cNvSpPr txBox="1"/>
              <p:nvPr/>
            </p:nvSpPr>
            <p:spPr>
              <a:xfrm>
                <a:off x="5880136" y="5706698"/>
                <a:ext cx="5583067" cy="7861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min</m:t>
                          </m:r>
                        </m:fName>
                        <m:e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−3</m:t>
                                  </m:r>
                                </m:e>
                              </m:d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, 1+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 −2</m:t>
                                  </m:r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  <a:endParaRPr lang="en-US" dirty="0"/>
              </a:p>
              <a:p>
                <a:pPr algn="ctr"/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400" dirty="0"/>
                  <a:t>         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=∞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96C544A-9D3D-312D-9DD1-7167959C06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0136" y="5706698"/>
                <a:ext cx="5583067" cy="786177"/>
              </a:xfrm>
              <a:prstGeom prst="rect">
                <a:avLst/>
              </a:prstGeom>
              <a:blipFill>
                <a:blip r:embed="rId7"/>
                <a:stretch>
                  <a:fillRect b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79471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88DF84-8808-03B8-2FC4-67347BD8D0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F946B-6C62-959E-5D89-48EB54D1D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Evaluating Recurrence Relations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1C36C8E-65B8-277A-A0F1-13E0383A3DA7}"/>
                  </a:ext>
                </a:extLst>
              </p:cNvPr>
              <p:cNvSpPr txBox="1"/>
              <p:nvPr/>
            </p:nvSpPr>
            <p:spPr>
              <a:xfrm>
                <a:off x="838200" y="3429000"/>
                <a:ext cx="2206752" cy="73866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+2</m:t>
                    </m:r>
                  </m:oMath>
                </a14:m>
                <a:r>
                  <a:rPr lang="en-US" sz="2400" b="0" dirty="0"/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US" sz="2400" b="0" dirty="0"/>
                  <a:t> 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1C36C8E-65B8-277A-A0F1-13E0383A3D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429000"/>
                <a:ext cx="2206752" cy="738664"/>
              </a:xfrm>
              <a:prstGeom prst="rect">
                <a:avLst/>
              </a:prstGeom>
              <a:blipFill>
                <a:blip r:embed="rId2"/>
                <a:stretch>
                  <a:fillRect l="-3591" b="-49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22A61E6-1999-9528-6D2C-5AFB8E8ECB48}"/>
                  </a:ext>
                </a:extLst>
              </p:cNvPr>
              <p:cNvSpPr txBox="1"/>
              <p:nvPr/>
            </p:nvSpPr>
            <p:spPr>
              <a:xfrm>
                <a:off x="6592824" y="2690337"/>
                <a:ext cx="4581144" cy="221599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US" sz="2400" b="0" dirty="0"/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+2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=3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0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+2=11</m:t>
                    </m:r>
                  </m:oMath>
                </a14:m>
                <a:r>
                  <a:rPr lang="en-US" sz="2400" dirty="0"/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+2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=3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0" smtClean="0">
                            <a:latin typeface="Cambria Math" panose="02040503050406030204" pitchFamily="18" charset="0"/>
                          </a:rPr>
                          <m:t>11</m:t>
                        </m:r>
                      </m:e>
                    </m:d>
                    <m:r>
                      <a:rPr lang="en-US" sz="2400">
                        <a:latin typeface="Cambria Math" panose="02040503050406030204" pitchFamily="18" charset="0"/>
                      </a:rPr>
                      <m:t>+2=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35</m:t>
                    </m:r>
                  </m:oMath>
                </a14:m>
                <a:r>
                  <a:rPr lang="en-US" sz="2400" dirty="0"/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+2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=3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sz="2400" b="0" i="0" smtClean="0"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d>
                    <m:r>
                      <a:rPr lang="en-US" sz="2400">
                        <a:latin typeface="Cambria Math" panose="02040503050406030204" pitchFamily="18" charset="0"/>
                      </a:rPr>
                      <m:t>+2=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107</m:t>
                    </m:r>
                  </m:oMath>
                </a14:m>
                <a:r>
                  <a:rPr lang="en-US" sz="2400" dirty="0"/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+2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=3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>
                            <a:latin typeface="Cambria Math" panose="02040503050406030204" pitchFamily="18" charset="0"/>
                          </a:rPr>
                          <m:t>107</m:t>
                        </m:r>
                      </m:e>
                    </m:d>
                    <m:r>
                      <a:rPr lang="en-US" sz="2400">
                        <a:latin typeface="Cambria Math" panose="02040503050406030204" pitchFamily="18" charset="0"/>
                      </a:rPr>
                      <m:t>+2=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323</m:t>
                    </m:r>
                  </m:oMath>
                </a14:m>
                <a:r>
                  <a:rPr lang="en-US" sz="2400" dirty="0"/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+2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=3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>
                            <a:latin typeface="Cambria Math" panose="02040503050406030204" pitchFamily="18" charset="0"/>
                          </a:rPr>
                          <m:t>323</m:t>
                        </m:r>
                      </m:e>
                    </m:d>
                    <m:r>
                      <a:rPr lang="en-US" sz="2400">
                        <a:latin typeface="Cambria Math" panose="02040503050406030204" pitchFamily="18" charset="0"/>
                      </a:rPr>
                      <m:t>+2=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971</m:t>
                    </m:r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22A61E6-1999-9528-6D2C-5AFB8E8ECB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2824" y="2690337"/>
                <a:ext cx="4581144" cy="2215991"/>
              </a:xfrm>
              <a:prstGeom prst="rect">
                <a:avLst/>
              </a:prstGeom>
              <a:blipFill>
                <a:blip r:embed="rId3"/>
                <a:stretch>
                  <a:fillRect l="-1731" r="-133" b="-13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3567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CF160-1DB7-5725-0EE5-A8D039D7B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DBEB4-E3F8-6906-5F93-D95B694B2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First-Order Recurrence Relations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2474E5A-6FC0-2606-1F36-BF9E9367943F}"/>
                  </a:ext>
                </a:extLst>
              </p:cNvPr>
              <p:cNvSpPr txBox="1"/>
              <p:nvPr/>
            </p:nvSpPr>
            <p:spPr>
              <a:xfrm>
                <a:off x="838200" y="2240280"/>
                <a:ext cx="2206752" cy="73866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+2</m:t>
                    </m:r>
                  </m:oMath>
                </a14:m>
                <a:r>
                  <a:rPr lang="en-US" sz="2400" b="0" dirty="0"/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2400" b="0" dirty="0"/>
                  <a:t> 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2474E5A-6FC0-2606-1F36-BF9E936794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240280"/>
                <a:ext cx="2206752" cy="738664"/>
              </a:xfrm>
              <a:prstGeom prst="rect">
                <a:avLst/>
              </a:prstGeom>
              <a:blipFill>
                <a:blip r:embed="rId2"/>
                <a:stretch>
                  <a:fillRect l="-3591" b="-49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C5734FA-DE4D-90FF-51A6-AE663252A642}"/>
                  </a:ext>
                </a:extLst>
              </p:cNvPr>
              <p:cNvSpPr txBox="1"/>
              <p:nvPr/>
            </p:nvSpPr>
            <p:spPr>
              <a:xfrm>
                <a:off x="838200" y="3528536"/>
                <a:ext cx="3349752" cy="147732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2400" b="0" dirty="0"/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+2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+2=3</m:t>
                    </m:r>
                  </m:oMath>
                </a14:m>
                <a:r>
                  <a:rPr lang="en-US" sz="2400" dirty="0"/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+2=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3+2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sz="2400" dirty="0"/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+2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+2=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C5734FA-DE4D-90FF-51A6-AE663252A6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528536"/>
                <a:ext cx="3349752" cy="1477328"/>
              </a:xfrm>
              <a:prstGeom prst="rect">
                <a:avLst/>
              </a:prstGeom>
              <a:blipFill>
                <a:blip r:embed="rId3"/>
                <a:stretch>
                  <a:fillRect l="-2368" b="-24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835BF64-B4A4-795B-47BA-AC896176F4C3}"/>
                  </a:ext>
                </a:extLst>
              </p:cNvPr>
              <p:cNvSpPr txBox="1"/>
              <p:nvPr/>
            </p:nvSpPr>
            <p:spPr>
              <a:xfrm>
                <a:off x="7648956" y="2918722"/>
                <a:ext cx="2528705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835BF64-B4A4-795B-47BA-AC896176F4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8956" y="2918722"/>
                <a:ext cx="2528705" cy="5539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E5AF81D-2F75-846D-6A27-9E4350BD056C}"/>
              </a:ext>
            </a:extLst>
          </p:cNvPr>
          <p:cNvCxnSpPr>
            <a:cxnSpLocks/>
          </p:cNvCxnSpPr>
          <p:nvPr/>
        </p:nvCxnSpPr>
        <p:spPr>
          <a:xfrm flipH="1" flipV="1">
            <a:off x="3410712" y="5005864"/>
            <a:ext cx="1124712" cy="67256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1FCB8B6-69AB-085B-B20B-3F3443358A0B}"/>
              </a:ext>
            </a:extLst>
          </p:cNvPr>
          <p:cNvSpPr txBox="1"/>
          <p:nvPr/>
        </p:nvSpPr>
        <p:spPr>
          <a:xfrm>
            <a:off x="2979365" y="5582888"/>
            <a:ext cx="429316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Note: each is 2 more than the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previous, on step n we add 2n</a:t>
            </a:r>
          </a:p>
        </p:txBody>
      </p:sp>
    </p:spTree>
    <p:extLst>
      <p:ext uri="{BB962C8B-B14F-4D97-AF65-F5344CB8AC3E}">
        <p14:creationId xmlns:p14="http://schemas.microsoft.com/office/powerpoint/2010/main" val="1299664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1A6A3B-3C05-DD4C-4C1B-8A3F7982A2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15AFB-69A7-F2B8-6F4E-368BB14C2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First-Order Recurrence Relations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07F9C15-113A-3B2F-B518-CF91F11F13C7}"/>
                  </a:ext>
                </a:extLst>
              </p:cNvPr>
              <p:cNvSpPr txBox="1"/>
              <p:nvPr/>
            </p:nvSpPr>
            <p:spPr>
              <a:xfrm>
                <a:off x="2017776" y="2998113"/>
                <a:ext cx="2983992" cy="110799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3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3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3600" b="0" dirty="0"/>
                  <a:t> 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3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36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sz="3600" dirty="0"/>
                  <a:t> 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07F9C15-113A-3B2F-B518-CF91F11F13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7776" y="2998113"/>
                <a:ext cx="2983992" cy="110799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DF16278-7629-7026-F704-9B78C088A529}"/>
                  </a:ext>
                </a:extLst>
              </p:cNvPr>
              <p:cNvSpPr txBox="1"/>
              <p:nvPr/>
            </p:nvSpPr>
            <p:spPr>
              <a:xfrm>
                <a:off x="6809232" y="3152001"/>
                <a:ext cx="2983992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3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𝑡𝑛</m:t>
                    </m:r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3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3600" b="0" dirty="0"/>
                  <a:t> 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DF16278-7629-7026-F704-9B78C088A5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9232" y="3152001"/>
                <a:ext cx="2983992" cy="5539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684753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9C7C13-CB56-D11E-7343-37F3FC4A0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96044-B28B-0CA6-2C28-DFD93F47E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First-Order Recurrence Relations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6CE3707-9371-188F-3762-9F1BD86FF896}"/>
                  </a:ext>
                </a:extLst>
              </p:cNvPr>
              <p:cNvSpPr txBox="1"/>
              <p:nvPr/>
            </p:nvSpPr>
            <p:spPr>
              <a:xfrm>
                <a:off x="838200" y="2240280"/>
                <a:ext cx="2206752" cy="73866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sz="2400" dirty="0"/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6CE3707-9371-188F-3762-9F1BD86FF8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240280"/>
                <a:ext cx="2206752" cy="738664"/>
              </a:xfrm>
              <a:prstGeom prst="rect">
                <a:avLst/>
              </a:prstGeom>
              <a:blipFill>
                <a:blip r:embed="rId2"/>
                <a:stretch>
                  <a:fillRect l="-3591" b="-49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CA676D6-8F95-ECD1-FA86-FF1EE43CB7E3}"/>
                  </a:ext>
                </a:extLst>
              </p:cNvPr>
              <p:cNvSpPr txBox="1"/>
              <p:nvPr/>
            </p:nvSpPr>
            <p:spPr>
              <a:xfrm>
                <a:off x="838200" y="3528536"/>
                <a:ext cx="3349752" cy="147732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2400" b="0" dirty="0"/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3(1)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US" sz="2400" dirty="0"/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3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3(3)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lang="en-US" sz="2400" dirty="0"/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3(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9)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27</m:t>
                    </m:r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CA676D6-8F95-ECD1-FA86-FF1EE43CB7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528536"/>
                <a:ext cx="3349752" cy="1477328"/>
              </a:xfrm>
              <a:prstGeom prst="rect">
                <a:avLst/>
              </a:prstGeom>
              <a:blipFill>
                <a:blip r:embed="rId3"/>
                <a:stretch>
                  <a:fillRect l="-2368" b="-74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91CCE26-7218-838D-8D73-C6E5856E37DC}"/>
                  </a:ext>
                </a:extLst>
              </p:cNvPr>
              <p:cNvSpPr txBox="1"/>
              <p:nvPr/>
            </p:nvSpPr>
            <p:spPr>
              <a:xfrm>
                <a:off x="7648956" y="2918722"/>
                <a:ext cx="1696170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sup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91CCE26-7218-838D-8D73-C6E5856E37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8956" y="2918722"/>
                <a:ext cx="1696170" cy="5539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6EF93D2-84E5-B243-A07E-4D3CEC59925D}"/>
              </a:ext>
            </a:extLst>
          </p:cNvPr>
          <p:cNvCxnSpPr>
            <a:cxnSpLocks/>
          </p:cNvCxnSpPr>
          <p:nvPr/>
        </p:nvCxnSpPr>
        <p:spPr>
          <a:xfrm flipH="1" flipV="1">
            <a:off x="3410712" y="5005864"/>
            <a:ext cx="1124712" cy="67256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07753982-69B5-A926-4CEC-A81AA6C5B04B}"/>
              </a:ext>
            </a:extLst>
          </p:cNvPr>
          <p:cNvSpPr txBox="1"/>
          <p:nvPr/>
        </p:nvSpPr>
        <p:spPr>
          <a:xfrm>
            <a:off x="2979365" y="5582888"/>
            <a:ext cx="41360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Note: each is 3 times the last</a:t>
            </a:r>
          </a:p>
        </p:txBody>
      </p:sp>
    </p:spTree>
    <p:extLst>
      <p:ext uri="{BB962C8B-B14F-4D97-AF65-F5344CB8AC3E}">
        <p14:creationId xmlns:p14="http://schemas.microsoft.com/office/powerpoint/2010/main" val="2971979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C73859-1AE4-7096-17A2-67D8E4EBA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37C80-4137-4286-FD4B-33E8EBB05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First-Order Recurrence Relations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75F8A33-EE69-2B5C-0D5F-B329D1CAF59F}"/>
                  </a:ext>
                </a:extLst>
              </p:cNvPr>
              <p:cNvSpPr txBox="1"/>
              <p:nvPr/>
            </p:nvSpPr>
            <p:spPr>
              <a:xfrm>
                <a:off x="2292096" y="2998113"/>
                <a:ext cx="2426208" cy="110799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3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𝑠</m:t>
                    </m:r>
                    <m:sSub>
                      <m:sSubPr>
                        <m:ctrlPr>
                          <a:rPr lang="en-US" sz="3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sz="3600" b="0" dirty="0"/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3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36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sz="3600" dirty="0"/>
                  <a:t> 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75F8A33-EE69-2B5C-0D5F-B329D1CAF5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2096" y="2998113"/>
                <a:ext cx="2426208" cy="110799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8E62B39-3EA3-E0E2-1977-CD58FCAFB5BC}"/>
                  </a:ext>
                </a:extLst>
              </p:cNvPr>
              <p:cNvSpPr txBox="1"/>
              <p:nvPr/>
            </p:nvSpPr>
            <p:spPr>
              <a:xfrm>
                <a:off x="6982968" y="3213556"/>
                <a:ext cx="1905000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3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3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𝑐𝑠</m:t>
                        </m:r>
                      </m:e>
                      <m:sup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3600" b="0" dirty="0"/>
                  <a:t> 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8E62B39-3EA3-E0E2-1977-CD58FCAFB5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2968" y="3213556"/>
                <a:ext cx="1905000" cy="5539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584769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893BFF-635E-7C17-66CC-6A32909F49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1603F-E978-BA04-37DF-E1A6E3C98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First-Order Recurrence Relations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5E2EF82-BAF5-DAA3-4D79-3679CE38D888}"/>
                  </a:ext>
                </a:extLst>
              </p:cNvPr>
              <p:cNvSpPr txBox="1"/>
              <p:nvPr/>
            </p:nvSpPr>
            <p:spPr>
              <a:xfrm>
                <a:off x="1697736" y="2321004"/>
                <a:ext cx="3230880" cy="110799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3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𝑠</m:t>
                    </m:r>
                    <m:sSub>
                      <m:sSubPr>
                        <m:ctrlPr>
                          <a:rPr lang="en-US" sz="3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3600" b="0" dirty="0"/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3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36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sz="3600" dirty="0"/>
                  <a:t> 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5E2EF82-BAF5-DAA3-4D79-3679CE38D8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7736" y="2321004"/>
                <a:ext cx="3230880" cy="110799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E0910FE-81D1-8D9F-3507-9B0743C9276C}"/>
                  </a:ext>
                </a:extLst>
              </p:cNvPr>
              <p:cNvSpPr txBox="1"/>
              <p:nvPr/>
            </p:nvSpPr>
            <p:spPr>
              <a:xfrm>
                <a:off x="6096000" y="2450430"/>
                <a:ext cx="4639056" cy="8491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3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3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sz="36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den>
                        </m:f>
                      </m:e>
                    </m:d>
                    <m:sSup>
                      <m:sSupPr>
                        <m:ctrlPr>
                          <a:rPr lang="en-US" sz="3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sz="3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den>
                    </m:f>
                  </m:oMath>
                </a14:m>
                <a:r>
                  <a:rPr lang="en-US" sz="3600" b="0" dirty="0"/>
                  <a:t> 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E0910FE-81D1-8D9F-3507-9B0743C927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2450430"/>
                <a:ext cx="4639056" cy="8491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95ED3F2-5C43-8758-74A9-F8387FB2AC07}"/>
                  </a:ext>
                </a:extLst>
              </p:cNvPr>
              <p:cNvSpPr txBox="1"/>
              <p:nvPr/>
            </p:nvSpPr>
            <p:spPr>
              <a:xfrm>
                <a:off x="6096000" y="3881580"/>
                <a:ext cx="4465320" cy="227754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3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3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sSupPr>
                        <m:ctrlPr>
                          <a:rPr lang="en-US" sz="3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3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3600" b="0" dirty="0"/>
                  <a:t> </a:t>
                </a:r>
                <a:endParaRPr lang="en-US" sz="20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sz="20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sz="2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solve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𝑐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𝑐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:</a:t>
                </a:r>
                <a:endParaRPr lang="en-US" sz="36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3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:            </m:t>
                    </m:r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3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3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3600" dirty="0"/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3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3600" i="1">
                        <a:latin typeface="Cambria Math" panose="02040503050406030204" pitchFamily="18" charset="0"/>
                      </a:rPr>
                      <m:t>:   </m:t>
                    </m:r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𝑠𝑐</m:t>
                    </m:r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36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3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36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3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3600" dirty="0"/>
                  <a:t> 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95ED3F2-5C43-8758-74A9-F8387FB2AC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3881580"/>
                <a:ext cx="4465320" cy="2277547"/>
              </a:xfrm>
              <a:prstGeom prst="rect">
                <a:avLst/>
              </a:prstGeom>
              <a:blipFill>
                <a:blip r:embed="rId4"/>
                <a:stretch>
                  <a:fillRect l="-34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65D8D2D-ED02-846A-6565-123B4DB2895A}"/>
                  </a:ext>
                </a:extLst>
              </p:cNvPr>
              <p:cNvSpPr txBox="1"/>
              <p:nvPr/>
            </p:nvSpPr>
            <p:spPr>
              <a:xfrm>
                <a:off x="710184" y="3979937"/>
                <a:ext cx="2206752" cy="73866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+2</m:t>
                    </m:r>
                  </m:oMath>
                </a14:m>
                <a:r>
                  <a:rPr lang="en-US" sz="2400" b="0" dirty="0"/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US" sz="2400" b="0" dirty="0"/>
                  <a:t>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65D8D2D-ED02-846A-6565-123B4DB289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184" y="3979937"/>
                <a:ext cx="2206752" cy="738664"/>
              </a:xfrm>
              <a:prstGeom prst="rect">
                <a:avLst/>
              </a:prstGeom>
              <a:blipFill>
                <a:blip r:embed="rId5"/>
                <a:stretch>
                  <a:fillRect l="-3591" b="-57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8C92C2E-0639-979F-567C-35AFD43217E0}"/>
                  </a:ext>
                </a:extLst>
              </p:cNvPr>
              <p:cNvSpPr txBox="1"/>
              <p:nvPr/>
            </p:nvSpPr>
            <p:spPr>
              <a:xfrm>
                <a:off x="536448" y="5150666"/>
                <a:ext cx="2590800" cy="73866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:      3=  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b="0" dirty="0"/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:   11=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b="0" dirty="0"/>
                  <a:t> 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8C92C2E-0639-979F-567C-35AFD43217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448" y="5150666"/>
                <a:ext cx="2590800" cy="738664"/>
              </a:xfrm>
              <a:prstGeom prst="rect">
                <a:avLst/>
              </a:prstGeom>
              <a:blipFill>
                <a:blip r:embed="rId6"/>
                <a:stretch>
                  <a:fillRect l="-2824" b="-57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0F33063-C626-2EC8-ABF1-9B3C085801E3}"/>
                  </a:ext>
                </a:extLst>
              </p:cNvPr>
              <p:cNvSpPr txBox="1"/>
              <p:nvPr/>
            </p:nvSpPr>
            <p:spPr>
              <a:xfrm>
                <a:off x="3191256" y="3979937"/>
                <a:ext cx="209044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=4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0F33063-C626-2EC8-ABF1-9B3C085801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1256" y="3979937"/>
                <a:ext cx="2090444" cy="369332"/>
              </a:xfrm>
              <a:prstGeom prst="rect">
                <a:avLst/>
              </a:prstGeom>
              <a:blipFill>
                <a:blip r:embed="rId7"/>
                <a:stretch>
                  <a:fillRect l="-1754" r="-3216" b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4594AE5-F78E-C568-17EA-02B8088240CB}"/>
                  </a:ext>
                </a:extLst>
              </p:cNvPr>
              <p:cNvSpPr txBox="1"/>
              <p:nvPr/>
            </p:nvSpPr>
            <p:spPr>
              <a:xfrm>
                <a:off x="3462528" y="5150666"/>
                <a:ext cx="1136904" cy="73866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= 4</m:t>
                    </m:r>
                  </m:oMath>
                </a14:m>
                <a:r>
                  <a:rPr lang="en-US" sz="2400" b="0" dirty="0"/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=−1</m:t>
                    </m:r>
                  </m:oMath>
                </a14:m>
                <a:r>
                  <a:rPr lang="en-US" sz="2400" b="0" dirty="0"/>
                  <a:t> 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4594AE5-F78E-C568-17EA-02B8088240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2528" y="5150666"/>
                <a:ext cx="1136904" cy="738664"/>
              </a:xfrm>
              <a:prstGeom prst="rect">
                <a:avLst/>
              </a:prstGeom>
              <a:blipFill>
                <a:blip r:embed="rId8"/>
                <a:stretch>
                  <a:fillRect l="-6417" r="-2674" b="-57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7229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3" grpId="0"/>
      <p:bldP spid="5" grpId="0"/>
      <p:bldP spid="7" grpId="0"/>
      <p:bldP spid="8" grpId="0"/>
      <p:bldP spid="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0084FF-6E0C-E1F8-FA2B-2B21C78C6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B5E22-7DE1-615D-1D9B-3D56C9381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Second-Order Recurrence Relations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E8E944B-318B-7F0B-C410-E7056D21DD0A}"/>
                  </a:ext>
                </a:extLst>
              </p:cNvPr>
              <p:cNvSpPr txBox="1"/>
              <p:nvPr/>
            </p:nvSpPr>
            <p:spPr>
              <a:xfrm>
                <a:off x="1395984" y="2382559"/>
                <a:ext cx="3980688" cy="166199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3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𝑠</m:t>
                    </m:r>
                    <m:sSub>
                      <m:sSubPr>
                        <m:ctrlPr>
                          <a:rPr lang="en-US" sz="3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𝑡</m:t>
                    </m:r>
                    <m:sSub>
                      <m:sSubPr>
                        <m:ctrlPr>
                          <a:rPr lang="en-US" sz="3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</m:sub>
                    </m:sSub>
                  </m:oMath>
                </a14:m>
                <a:r>
                  <a:rPr lang="en-US" sz="3600" b="0" dirty="0"/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3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36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3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3600" dirty="0"/>
                  <a:t> </a:t>
                </a:r>
                <a:endParaRPr lang="en-US" sz="360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3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36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3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3600" dirty="0"/>
                  <a:t> 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E8E944B-318B-7F0B-C410-E7056D21DD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5984" y="2382559"/>
                <a:ext cx="3980688" cy="166199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B892F97-18F8-7BA3-414F-41D146D4DC9D}"/>
                  </a:ext>
                </a:extLst>
              </p:cNvPr>
              <p:cNvSpPr txBox="1"/>
              <p:nvPr/>
            </p:nvSpPr>
            <p:spPr>
              <a:xfrm>
                <a:off x="6815330" y="3225819"/>
                <a:ext cx="3770376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sSup>
                        <m:sSup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US" sz="3600" b="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B892F97-18F8-7BA3-414F-41D146D4DC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5330" y="3225819"/>
                <a:ext cx="3770376" cy="5539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AF9931E-51B7-5E47-B12C-ECA1A3260CC7}"/>
                  </a:ext>
                </a:extLst>
              </p:cNvPr>
              <p:cNvSpPr txBox="1"/>
              <p:nvPr/>
            </p:nvSpPr>
            <p:spPr>
              <a:xfrm>
                <a:off x="6815330" y="2505670"/>
                <a:ext cx="1392936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3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3600" b="0" dirty="0"/>
                  <a:t> 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AF9931E-51B7-5E47-B12C-ECA1A3260C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5330" y="2505670"/>
                <a:ext cx="1392936" cy="5539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94D710D-5267-FCEB-919E-F34DF6632569}"/>
                  </a:ext>
                </a:extLst>
              </p:cNvPr>
              <p:cNvSpPr txBox="1"/>
              <p:nvPr/>
            </p:nvSpPr>
            <p:spPr>
              <a:xfrm>
                <a:off x="6888482" y="4007522"/>
                <a:ext cx="3770376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3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3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Sup>
                      <m:sSubSupPr>
                        <m:ctrlPr>
                          <a:rPr lang="en-US" sz="36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bSup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3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Sup>
                      <m:sSubSupPr>
                        <m:ctrlPr>
                          <a:rPr lang="en-US" sz="36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bSup>
                  </m:oMath>
                </a14:m>
                <a:r>
                  <a:rPr lang="en-US" sz="3600" b="0" dirty="0"/>
                  <a:t>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94D710D-5267-FCEB-919E-F34DF66325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8482" y="4007522"/>
                <a:ext cx="3770376" cy="55399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15B524A2-4124-AF58-B1E7-E28A14CD456A}"/>
              </a:ext>
            </a:extLst>
          </p:cNvPr>
          <p:cNvSpPr txBox="1"/>
          <p:nvPr/>
        </p:nvSpPr>
        <p:spPr>
          <a:xfrm>
            <a:off x="6733034" y="2044006"/>
            <a:ext cx="25635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Possible Solutions:</a:t>
            </a:r>
          </a:p>
        </p:txBody>
      </p:sp>
    </p:spTree>
    <p:extLst>
      <p:ext uri="{BB962C8B-B14F-4D97-AF65-F5344CB8AC3E}">
        <p14:creationId xmlns:p14="http://schemas.microsoft.com/office/powerpoint/2010/main" val="2386864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3" grpId="0"/>
      <p:bldP spid="5" grpId="0"/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C83205-1B22-D676-FADE-F4F6D896E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38F21-E07E-84E9-9A7A-799F96B8A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Second-Order Recurrence Relations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D49CE9F-2F11-2057-24D8-FAFA46B0C805}"/>
                  </a:ext>
                </a:extLst>
              </p:cNvPr>
              <p:cNvSpPr txBox="1"/>
              <p:nvPr/>
            </p:nvSpPr>
            <p:spPr>
              <a:xfrm>
                <a:off x="1395984" y="2382559"/>
                <a:ext cx="3980688" cy="166199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3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𝑠</m:t>
                    </m:r>
                    <m:sSub>
                      <m:sSubPr>
                        <m:ctrlPr>
                          <a:rPr lang="en-US" sz="3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𝑡</m:t>
                    </m:r>
                    <m:sSub>
                      <m:sSubPr>
                        <m:ctrlPr>
                          <a:rPr lang="en-US" sz="3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</m:sub>
                    </m:sSub>
                  </m:oMath>
                </a14:m>
                <a:r>
                  <a:rPr lang="en-US" sz="3600" b="0" dirty="0"/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3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36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3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3600" dirty="0"/>
                  <a:t> </a:t>
                </a:r>
                <a:endParaRPr lang="en-US" sz="360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3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36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3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3600" dirty="0"/>
                  <a:t> 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D49CE9F-2F11-2057-24D8-FAFA46B0C8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5984" y="2382559"/>
                <a:ext cx="3980688" cy="166199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3C916E4-D414-2DC6-FF7E-C285A58B7762}"/>
                  </a:ext>
                </a:extLst>
              </p:cNvPr>
              <p:cNvSpPr txBox="1"/>
              <p:nvPr/>
            </p:nvSpPr>
            <p:spPr>
              <a:xfrm>
                <a:off x="6423660" y="2220206"/>
                <a:ext cx="475945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Assume solution is of the form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3C916E4-D414-2DC6-FF7E-C285A58B77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3660" y="2220206"/>
                <a:ext cx="4759452" cy="461665"/>
              </a:xfrm>
              <a:prstGeom prst="rect">
                <a:avLst/>
              </a:prstGeom>
              <a:blipFill>
                <a:blip r:embed="rId3"/>
                <a:stretch>
                  <a:fillRect l="-2049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F2EB7BF-2E12-1229-ACE9-566CF018CF17}"/>
                  </a:ext>
                </a:extLst>
              </p:cNvPr>
              <p:cNvSpPr txBox="1"/>
              <p:nvPr/>
            </p:nvSpPr>
            <p:spPr>
              <a:xfrm>
                <a:off x="6941658" y="2992558"/>
                <a:ext cx="3737562" cy="31071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𝑠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𝑡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sub>
                          </m:sSub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8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sz="28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𝑠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𝑡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sup>
                      </m:sSup>
                      <m:r>
                        <a:rPr lang="en-US" sz="2800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800" dirty="0"/>
              </a:p>
              <a:p>
                <a:pPr algn="ctr"/>
                <a:r>
                  <a:rPr lang="en-US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divide all by</a:t>
                </a:r>
                <a:r>
                  <a:rPr lang="en-US" sz="28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𝑟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𝑛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−2</m:t>
                        </m:r>
                      </m:sup>
                    </m:sSup>
                  </m:oMath>
                </a14:m>
                <a:endParaRPr lang="en-US" sz="2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𝑠𝑟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800" dirty="0"/>
              </a:p>
              <a:p>
                <a:pPr algn="ctr"/>
                <a:r>
                  <a:rPr lang="en-US" sz="2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solve for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𝑟</m:t>
                    </m:r>
                  </m:oMath>
                </a14:m>
                <a:endParaRPr lang="en-US" sz="2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𝑟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𝑠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±</m:t>
                          </m:r>
                          <m:rad>
                            <m:radPr>
                              <m:degHide m:val="on"/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+4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𝑡</m:t>
                              </m:r>
                            </m:e>
                          </m:rad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2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F2EB7BF-2E12-1229-ACE9-566CF018CF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1658" y="2992558"/>
                <a:ext cx="3737562" cy="3107197"/>
              </a:xfrm>
              <a:prstGeom prst="rect">
                <a:avLst/>
              </a:prstGeom>
              <a:blipFill>
                <a:blip r:embed="rId4"/>
                <a:stretch>
                  <a:fillRect l="-678" r="-2034" b="-32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BAEE1CA-12EF-269C-E038-CC8320D0704D}"/>
                  </a:ext>
                </a:extLst>
              </p:cNvPr>
              <p:cNvSpPr txBox="1"/>
              <p:nvPr/>
            </p:nvSpPr>
            <p:spPr>
              <a:xfrm>
                <a:off x="1177994" y="4551757"/>
                <a:ext cx="265111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𝑎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𝑛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=0</m:t>
                    </m:r>
                  </m:oMath>
                </a14:m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BAEE1CA-12EF-269C-E038-CC8320D070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7994" y="4551757"/>
                <a:ext cx="2651110" cy="369332"/>
              </a:xfrm>
              <a:prstGeom prst="rect">
                <a:avLst/>
              </a:prstGeom>
              <a:blipFill>
                <a:blip r:embed="rId5"/>
                <a:stretch>
                  <a:fillRect l="-6897" t="-25000" r="-2989" b="-5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0AD91F1-3FC9-4125-36AA-874D4203B96B}"/>
                  </a:ext>
                </a:extLst>
              </p:cNvPr>
              <p:cNvSpPr txBox="1"/>
              <p:nvPr/>
            </p:nvSpPr>
            <p:spPr>
              <a:xfrm>
                <a:off x="1177994" y="5234509"/>
                <a:ext cx="422583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𝑎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𝑛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𝑛</m:t>
                        </m:r>
                      </m:e>
                    </m:d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𝑏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0AD91F1-3FC9-4125-36AA-874D4203B9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7994" y="5234509"/>
                <a:ext cx="4225837" cy="369332"/>
              </a:xfrm>
              <a:prstGeom prst="rect">
                <a:avLst/>
              </a:prstGeom>
              <a:blipFill>
                <a:blip r:embed="rId6"/>
                <a:stretch>
                  <a:fillRect l="-4329" t="-25000" r="-144" b="-5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0D54CE7-84C9-F1F8-89E7-E95AE6190341}"/>
                  </a:ext>
                </a:extLst>
              </p:cNvPr>
              <p:cNvSpPr txBox="1"/>
              <p:nvPr/>
            </p:nvSpPr>
            <p:spPr>
              <a:xfrm>
                <a:off x="1177994" y="5926380"/>
                <a:ext cx="466012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𝑎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𝑛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0</m:t>
                        </m:r>
                      </m:sub>
                    </m:sSub>
                    <m:sSubSup>
                      <m:sSubSup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𝑏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0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𝑛</m:t>
                        </m:r>
                      </m:sup>
                    </m:sSubSup>
                    <m:r>
                      <a:rPr lang="en-US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+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  <m:sSubSup>
                      <m:sSubSup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𝑏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𝑛</m:t>
                        </m:r>
                      </m:sup>
                    </m:sSubSup>
                  </m:oMath>
                </a14:m>
                <a:endParaRPr 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0D54CE7-84C9-F1F8-89E7-E95AE61903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7994" y="5926380"/>
                <a:ext cx="4660122" cy="369332"/>
              </a:xfrm>
              <a:prstGeom prst="rect">
                <a:avLst/>
              </a:prstGeom>
              <a:blipFill>
                <a:blip r:embed="rId7"/>
                <a:stretch>
                  <a:fillRect l="-3922" t="-24590" b="-491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FAFDF86-04AE-FFD3-09F9-74B6C20F2BB8}"/>
              </a:ext>
            </a:extLst>
          </p:cNvPr>
          <p:cNvCxnSpPr>
            <a:cxnSpLocks/>
          </p:cNvCxnSpPr>
          <p:nvPr/>
        </p:nvCxnSpPr>
        <p:spPr>
          <a:xfrm flipH="1">
            <a:off x="4568289" y="4627347"/>
            <a:ext cx="732237" cy="66089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14C2B9F-CF92-AF3F-AF58-2DEE8F6B327E}"/>
              </a:ext>
            </a:extLst>
          </p:cNvPr>
          <p:cNvCxnSpPr>
            <a:cxnSpLocks/>
          </p:cNvCxnSpPr>
          <p:nvPr/>
        </p:nvCxnSpPr>
        <p:spPr>
          <a:xfrm flipH="1">
            <a:off x="5102352" y="4736423"/>
            <a:ext cx="878437" cy="118995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7C371C5-D26D-1C32-7399-9FF2FF14FEAA}"/>
                  </a:ext>
                </a:extLst>
              </p:cNvPr>
              <p:cNvSpPr txBox="1"/>
              <p:nvPr/>
            </p:nvSpPr>
            <p:spPr>
              <a:xfrm>
                <a:off x="4703372" y="3790323"/>
                <a:ext cx="2132984" cy="83099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Setup equations using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to solve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b>
                    </m:sSub>
                  </m:oMath>
                </a14:m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7C371C5-D26D-1C32-7399-9FF2FF14FE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3372" y="3790323"/>
                <a:ext cx="2132984" cy="830997"/>
              </a:xfrm>
              <a:prstGeom prst="rect">
                <a:avLst/>
              </a:prstGeom>
              <a:blipFill>
                <a:blip r:embed="rId8"/>
                <a:stretch>
                  <a:fillRect l="-860" t="-9559" r="-2292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52232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12" grpId="0"/>
      <p:bldP spid="13" grpId="0"/>
      <p:bldP spid="2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1AF9E3-2D7F-0F90-65F4-17B464F5FB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77646"/>
            <a:ext cx="10515600" cy="5502708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US" sz="6600" dirty="0">
                <a:latin typeface="Arial" panose="020B0604020202020204" pitchFamily="34" charset="0"/>
                <a:cs typeface="Arial" panose="020B0604020202020204" pitchFamily="34" charset="0"/>
              </a:rPr>
              <a:t>Group Exercises</a:t>
            </a:r>
          </a:p>
          <a:p>
            <a:pPr marL="0" indent="0" algn="ctr">
              <a:buNone/>
            </a:pP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Form groups of 3-4</a:t>
            </a:r>
            <a:endParaRPr lang="en-US" sz="6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2076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4012</TotalTime>
  <Words>524</Words>
  <Application>Microsoft Macintosh PowerPoint</Application>
  <PresentationFormat>Widescreen</PresentationFormat>
  <Paragraphs>101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Cambria Math</vt:lpstr>
      <vt:lpstr>Office Theme</vt:lpstr>
      <vt:lpstr>Recurrence Relations March 4, 2026</vt:lpstr>
      <vt:lpstr>Agenda</vt:lpstr>
      <vt:lpstr>Recurrence Relations</vt:lpstr>
      <vt:lpstr>Evaluating Recurrence Relations</vt:lpstr>
      <vt:lpstr>First-Order Recurrence Relations</vt:lpstr>
      <vt:lpstr>First-Order Recurrence Relations</vt:lpstr>
      <vt:lpstr>First-Order Recurrence Relations</vt:lpstr>
      <vt:lpstr>First-Order Recurrence Relations</vt:lpstr>
      <vt:lpstr>First-Order Recurrence Relations</vt:lpstr>
      <vt:lpstr>Second-Order Recurrence Relations</vt:lpstr>
      <vt:lpstr>Second-Order Recurrence Relations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Definition January 16, 2026</dc:title>
  <dc:creator>Charlie MURPHY</dc:creator>
  <cp:lastModifiedBy>Charlie MURPHY</cp:lastModifiedBy>
  <cp:revision>48</cp:revision>
  <dcterms:created xsi:type="dcterms:W3CDTF">2026-01-16T17:57:13Z</dcterms:created>
  <dcterms:modified xsi:type="dcterms:W3CDTF">2026-03-04T21:10:14Z</dcterms:modified>
</cp:coreProperties>
</file>