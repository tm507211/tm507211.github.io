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3" r:id="rId4"/>
    <p:sldId id="274" r:id="rId5"/>
    <p:sldId id="275" r:id="rId6"/>
    <p:sldId id="276" r:id="rId7"/>
    <p:sldId id="278" r:id="rId8"/>
    <p:sldId id="277" r:id="rId9"/>
    <p:sldId id="279" r:id="rId10"/>
    <p:sldId id="280" r:id="rId11"/>
    <p:sldId id="281" r:id="rId12"/>
    <p:sldId id="282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7326B7-5200-4CD9-AB61-57E14B8A6EBE}">
          <p14:sldIdLst>
            <p14:sldId id="256"/>
            <p14:sldId id="257"/>
            <p14:sldId id="273"/>
            <p14:sldId id="274"/>
            <p14:sldId id="275"/>
            <p14:sldId id="276"/>
            <p14:sldId id="278"/>
            <p14:sldId id="277"/>
            <p14:sldId id="279"/>
            <p14:sldId id="280"/>
            <p14:sldId id="281"/>
            <p14:sldId id="282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47"/>
    <p:restoredTop sz="80630" autoAdjust="0"/>
  </p:normalViewPr>
  <p:slideViewPr>
    <p:cSldViewPr snapToGrid="0">
      <p:cViewPr varScale="1">
        <p:scale>
          <a:sx n="89" d="100"/>
          <a:sy n="89" d="100"/>
        </p:scale>
        <p:origin x="1158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30911-D214-D045-9349-C3772567489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2961A4-95F2-894E-ADC5-DD1F6E908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299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961A4-95F2-894E-ADC5-DD1F6E908F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70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961A4-95F2-894E-ADC5-DD1F6E908F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87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47548-930D-CEB3-B6E1-403938CED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90D905-144F-E221-34C2-2BB66D9EA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7F502B-807C-E3B9-DBCE-CAD87FAF9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1E269-023F-FB1D-7AA3-55804ABAD2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961A4-95F2-894E-ADC5-DD1F6E908F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6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C2550-3403-0A5B-0378-FA67B86A7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C24B7B-EAF1-BE18-D20A-FC495B3B3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633D0E-70A5-A325-EBB1-E4915E096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D07AA-2270-CC35-5E4B-FBC3844ED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961A4-95F2-894E-ADC5-DD1F6E908F0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3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C009B-60BE-E43B-629A-48464AA47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4718F2-8932-183D-C62D-8442288AA1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7EDB54-298B-1735-0D19-CEA376921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51784-AA9C-D281-39BC-51E2155756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961A4-95F2-894E-ADC5-DD1F6E908F0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626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31DE7-DFFD-1CB8-9506-B398F04FC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63199F-AB1D-E276-964A-3D25043C8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8E9C04-1790-2165-BA03-239D972F9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AAA73-5182-1391-B9DD-D756CB2685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961A4-95F2-894E-ADC5-DD1F6E908F0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550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1518B-B043-8002-034F-52A25DAA5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E5C96-C9C6-E781-4070-2BAA34B60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94F6B-31DE-1435-4B18-366807A4A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B7B89-3D9E-E8AE-5482-01007B360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961A4-95F2-894E-ADC5-DD1F6E908F0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880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02317-76C5-00DE-41F7-1568FBB02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EDD61-59C3-F48D-A1C6-6BF910D18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20236-9295-0804-B46E-9247CF207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0ED02-1E1E-AA97-3576-4653B337A4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961A4-95F2-894E-ADC5-DD1F6E908F0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590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16C4C-5964-B762-90DE-6C633FB77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0010F9-F8C3-790C-7D63-56A9A3FFB9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6C064-27F0-B2C4-23A0-C7C22E522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48D7B-9D90-6D39-29FC-754EF4673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961A4-95F2-894E-ADC5-DD1F6E908F0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43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2AFA1-5EE3-0C5B-ABF9-571EEE5E8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2D555B-D6DD-9119-3A4A-2044FB3001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7B3761-81DB-9352-FD1A-BD542585B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D9815-0653-C427-3154-C0741E32D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961A4-95F2-894E-ADC5-DD1F6E908F0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49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A780C-304C-6F8C-ECC1-11A8117D2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293188-ECDF-24FA-3963-762B9B4A3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614AB-0B96-E3CB-BE24-D3AA5EE8B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C522E-40DC-5236-5ABD-86FE8E7945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961A4-95F2-894E-ADC5-DD1F6E908F0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31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B5F3E-3B5A-D75A-BD4D-F730B1723D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BB222-6649-719C-9325-1F36E18AB0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03515-C1F8-453F-0EC6-51AA2C7A1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18CDE-3F47-EDF4-DC0A-3961C0818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3E81A-FFDE-B721-CD1E-8F4DF700E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94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0B8D5-26A3-EBE3-4E7F-AAD5E4FA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B45CA-D54D-699A-76B5-4F0844DBC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81831-8FAA-6066-BF8E-81CC6F10D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E2452-7B5D-A849-6C01-7274000D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B564A-7A03-C6F6-F086-2432409A8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074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7E357-6679-D94B-3077-7CD86B168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CE16D-C6DB-A4BD-D8A8-5DF441199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6CECE-8E10-70CE-9C49-296C0E3F6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8E6D8-07D0-5A7C-2429-11F82ADB8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CECBD-59AE-2F7D-875F-F980C9A0F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689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45976-4201-5230-1292-88B31927C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E06A4-2D27-B445-C2AE-4DFE1F1B58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12955-52B7-7BAD-57BE-516E892B2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9ACBD-4913-8B30-DA1E-3856DA65C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03733-97C9-CB33-4679-932A852A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20720-8859-A269-160F-EC304CD91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59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9FEB4-D142-81F7-5D72-B998B0FF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9B809-1D4B-25FB-A392-4AD5E2738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47819-DD45-C145-4884-FD56DB131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A84147-EF4B-84F7-5107-72EAD152C7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0DC25E-4155-C332-2692-B4CDA12B2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6E4217-32CE-6EDB-822C-C0818C731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9ABF66-BC23-02A7-0046-74A3E798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613106-05AE-7254-9C13-0FA7121C5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42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14BAE-848A-5F54-3A53-DE23D45C4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8DFFEE-FF57-2D6E-082B-512B8CF6A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7220EE-2708-9A84-DF28-110E84C12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9D6CE-B64C-C538-21DF-D8291F940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09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ED71C6-356D-E558-4174-EA934A116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AF3206-B9DA-3961-3B09-B5610A499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8AA17-E9DA-FAC3-C9B5-09B1B1AA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494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44BA2-B496-A5AD-8AAA-95FA8615E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ACE26-C855-0D28-4D15-3CDFC2752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64E0B-1DC0-3C0D-F4A2-D1C33C2BA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F5CE1-474B-EB3C-76AD-92081E569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34E6B-F034-7CA6-EC33-50AF7849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0DB7E-AA5F-DE24-0EC3-0396E2AC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46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FA7B6-1B0E-1E9A-FF73-2B29E7FC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13D163-10D6-DE76-B416-097CDD6FFB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0D9EC6-4306-AA87-72BC-96A438999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74A75-C80D-3EDD-A7E3-736CCF13D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D5F45-E11B-2C01-93C6-D6EC029DB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A8749-4563-07C6-5150-619BE3814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6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92E73-0654-0FC4-FA57-790699391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8A1B91-CFDE-D11E-FF7B-93DBE6009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845D3-A54F-0C5E-1122-1EFC709E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3C6E3-06AC-2CAD-5190-8EC8B932F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66BF5-0B99-2F57-4FCF-CCAE7570B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475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F03C9B-F8AB-173A-C3DF-64A7E52181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77A583-EEE8-5F6B-1B72-A14AE2999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5FB26-E673-C15D-ACE1-BBA948D43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6D78F-8C1D-14A4-FB46-46EAAA54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E79D3-CE88-9D52-A16B-738A06771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0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E7AE9-6ED5-5836-3F2B-3A1E04AA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079C4-773A-4290-F256-2E91752B0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34355-216E-2F08-CFF1-B3CFFD911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900130-2E42-9F4E-B9EA-739EF1E7DB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052C4-72E0-9480-A591-D582C5D4B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CA343-A6B2-4A4A-89B2-C91404765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5E992-0B6F-C532-4CDC-01C88B584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2968" y="1666235"/>
            <a:ext cx="9706062" cy="1352389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Graphs I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April 8, 2026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3B3C38-0311-0A88-4B39-23CF5C009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2968" y="3779284"/>
            <a:ext cx="9144000" cy="1655762"/>
          </a:xfrm>
        </p:spPr>
        <p:txBody>
          <a:bodyPr/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CSCI 246: Discrete Structures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Textbook Reference: Ch. 9, Sec. 47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46AF35-1070-5310-AD82-FAFFE7E3F17E}"/>
              </a:ext>
            </a:extLst>
          </p:cNvPr>
          <p:cNvCxnSpPr/>
          <p:nvPr/>
        </p:nvCxnSpPr>
        <p:spPr>
          <a:xfrm>
            <a:off x="1242968" y="3429000"/>
            <a:ext cx="9706063" cy="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138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F536E-B36C-FFF5-92CE-C10A8003E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18EBE-B810-7F46-1CA1-4FCD6ED02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Lecture (~ 10 minutes)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Assignment 6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Released by Tomorrow.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Now, due Friday April 17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Group Exercise (~40 minutes)</a:t>
            </a:r>
          </a:p>
        </p:txBody>
      </p:sp>
    </p:spTree>
    <p:extLst>
      <p:ext uri="{BB962C8B-B14F-4D97-AF65-F5344CB8AC3E}">
        <p14:creationId xmlns:p14="http://schemas.microsoft.com/office/powerpoint/2010/main" val="660948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BBE9D-9E02-2458-2BFB-839EE0AF0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Graph (recap)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5E777AF2-08C1-87E3-A452-9D031C3B14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84365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A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graph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pair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where: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set of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vertices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set of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edges</a:t>
                </a:r>
              </a:p>
              <a:p>
                <a:endParaRPr lang="en-US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1,2,3,4,5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1, 2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1, 3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2, 1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3, 1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3, 2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</m: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4, 4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4, 5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5, 3</m:t>
                                </m:r>
                              </m:e>
                            </m:d>
                          </m:e>
                        </m:eqAr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5E777AF2-08C1-87E3-A452-9D031C3B14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843655"/>
              </a:xfrm>
              <a:blipFill>
                <a:blip r:embed="rId3"/>
                <a:stretch>
                  <a:fillRect l="-1217" t="-3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FEC4BF96-0CAF-BF2A-8B62-8924B090E3AD}"/>
              </a:ext>
            </a:extLst>
          </p:cNvPr>
          <p:cNvSpPr/>
          <p:nvPr/>
        </p:nvSpPr>
        <p:spPr>
          <a:xfrm>
            <a:off x="7470648" y="3761142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5D5AC05-A1DB-8C86-A8EF-93BDB968961C}"/>
              </a:ext>
            </a:extLst>
          </p:cNvPr>
          <p:cNvSpPr/>
          <p:nvPr/>
        </p:nvSpPr>
        <p:spPr>
          <a:xfrm>
            <a:off x="8464296" y="3200310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D7C454A-C9AD-CB82-DF5A-52BC50A45814}"/>
              </a:ext>
            </a:extLst>
          </p:cNvPr>
          <p:cNvSpPr/>
          <p:nvPr/>
        </p:nvSpPr>
        <p:spPr>
          <a:xfrm>
            <a:off x="9113520" y="4500218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C92D1E-C828-D3B3-9C28-BC2014CDC0CD}"/>
              </a:ext>
            </a:extLst>
          </p:cNvPr>
          <p:cNvSpPr/>
          <p:nvPr/>
        </p:nvSpPr>
        <p:spPr>
          <a:xfrm>
            <a:off x="8171688" y="5815494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D5488FF-1855-6F77-B275-63ACDB141550}"/>
              </a:ext>
            </a:extLst>
          </p:cNvPr>
          <p:cNvSpPr/>
          <p:nvPr/>
        </p:nvSpPr>
        <p:spPr>
          <a:xfrm>
            <a:off x="8171688" y="4390490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A3B592-F766-3436-A827-8335353D192D}"/>
              </a:ext>
            </a:extLst>
          </p:cNvPr>
          <p:cNvCxnSpPr>
            <a:cxnSpLocks/>
            <a:stCxn id="5" idx="2"/>
            <a:endCxn id="4" idx="7"/>
          </p:cNvCxnSpPr>
          <p:nvPr/>
        </p:nvCxnSpPr>
        <p:spPr>
          <a:xfrm flipH="1">
            <a:off x="7720405" y="3346614"/>
            <a:ext cx="743891" cy="45737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2C80DDE-0FCC-B81B-5B99-6AEEDA2AA5DF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7720405" y="4010899"/>
            <a:ext cx="494134" cy="42244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E8512D-C479-7A58-7503-37D162031E0F}"/>
              </a:ext>
            </a:extLst>
          </p:cNvPr>
          <p:cNvCxnSpPr>
            <a:cxnSpLocks/>
            <a:stCxn id="7" idx="0"/>
            <a:endCxn id="8" idx="4"/>
          </p:cNvCxnSpPr>
          <p:nvPr/>
        </p:nvCxnSpPr>
        <p:spPr>
          <a:xfrm flipV="1">
            <a:off x="8317992" y="4683098"/>
            <a:ext cx="0" cy="113239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96F7A9-B23A-156E-D8B3-733614AA1CC1}"/>
              </a:ext>
            </a:extLst>
          </p:cNvPr>
          <p:cNvCxnSpPr>
            <a:stCxn id="8" idx="7"/>
            <a:endCxn id="5" idx="4"/>
          </p:cNvCxnSpPr>
          <p:nvPr/>
        </p:nvCxnSpPr>
        <p:spPr>
          <a:xfrm flipV="1">
            <a:off x="8421445" y="3492918"/>
            <a:ext cx="189155" cy="9404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ECD2DD4-5905-E008-83DC-49A333243CC7}"/>
              </a:ext>
            </a:extLst>
          </p:cNvPr>
          <p:cNvCxnSpPr>
            <a:cxnSpLocks/>
            <a:stCxn id="6" idx="3"/>
            <a:endCxn id="7" idx="7"/>
          </p:cNvCxnSpPr>
          <p:nvPr/>
        </p:nvCxnSpPr>
        <p:spPr>
          <a:xfrm flipH="1">
            <a:off x="8421445" y="4749975"/>
            <a:ext cx="734926" cy="11083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D48BF832-077C-6B95-71BA-AD0C6299B30C}"/>
              </a:ext>
            </a:extLst>
          </p:cNvPr>
          <p:cNvCxnSpPr>
            <a:stCxn id="6" idx="6"/>
            <a:endCxn id="6" idx="0"/>
          </p:cNvCxnSpPr>
          <p:nvPr/>
        </p:nvCxnSpPr>
        <p:spPr>
          <a:xfrm flipH="1" flipV="1">
            <a:off x="9259824" y="4500218"/>
            <a:ext cx="146304" cy="146304"/>
          </a:xfrm>
          <a:prstGeom prst="curvedConnector4">
            <a:avLst>
              <a:gd name="adj1" fmla="val -156250"/>
              <a:gd name="adj2" fmla="val 2562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47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67AC0-60D6-08C2-D353-FF8B483E8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23FA8-D140-407E-4E12-593523E7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Subgraph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1338F970-FDF8-779D-3C31-2A39EBDC55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8436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be a graph. We say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subgraph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</m:oMath>
                </a14:m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if and only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</m:oMath>
                </a14:m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is a graph,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1338F970-FDF8-779D-3C31-2A39EBDC55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843655"/>
              </a:xfrm>
              <a:blipFill>
                <a:blip r:embed="rId3"/>
                <a:stretch>
                  <a:fillRect l="-1217" t="-26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C6B0C2FB-9C78-A637-BF3F-0FD563A93DD1}"/>
              </a:ext>
            </a:extLst>
          </p:cNvPr>
          <p:cNvSpPr/>
          <p:nvPr/>
        </p:nvSpPr>
        <p:spPr>
          <a:xfrm>
            <a:off x="6922815" y="3761411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E82A79C-FC31-77B1-63F1-8F2EDB9801AC}"/>
              </a:ext>
            </a:extLst>
          </p:cNvPr>
          <p:cNvSpPr/>
          <p:nvPr/>
        </p:nvSpPr>
        <p:spPr>
          <a:xfrm>
            <a:off x="7916463" y="3200579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DF261EB-11AA-C6DA-8134-6794C3D00A51}"/>
              </a:ext>
            </a:extLst>
          </p:cNvPr>
          <p:cNvSpPr/>
          <p:nvPr/>
        </p:nvSpPr>
        <p:spPr>
          <a:xfrm>
            <a:off x="8393565" y="5261333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F9053EE-EA0A-8DCA-2558-5B61D7178C1E}"/>
              </a:ext>
            </a:extLst>
          </p:cNvPr>
          <p:cNvSpPr/>
          <p:nvPr/>
        </p:nvSpPr>
        <p:spPr>
          <a:xfrm>
            <a:off x="7183060" y="5261333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0CE1235-332C-B978-89E0-74600B882EC9}"/>
              </a:ext>
            </a:extLst>
          </p:cNvPr>
          <p:cNvSpPr/>
          <p:nvPr/>
        </p:nvSpPr>
        <p:spPr>
          <a:xfrm>
            <a:off x="7623855" y="4390759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2A39526-2E66-81C0-A182-E97981B0335A}"/>
              </a:ext>
            </a:extLst>
          </p:cNvPr>
          <p:cNvCxnSpPr>
            <a:cxnSpLocks/>
            <a:stCxn id="5" idx="2"/>
            <a:endCxn id="4" idx="7"/>
          </p:cNvCxnSpPr>
          <p:nvPr/>
        </p:nvCxnSpPr>
        <p:spPr>
          <a:xfrm flipH="1">
            <a:off x="7172572" y="3346883"/>
            <a:ext cx="743891" cy="45737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35E5276-8DC8-9FCA-2425-DCBC73E94203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7172572" y="4011168"/>
            <a:ext cx="494134" cy="42244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424FAEC-13FA-F576-00D4-3BDB75179791}"/>
              </a:ext>
            </a:extLst>
          </p:cNvPr>
          <p:cNvCxnSpPr>
            <a:cxnSpLocks/>
            <a:stCxn id="7" idx="0"/>
            <a:endCxn id="8" idx="3"/>
          </p:cNvCxnSpPr>
          <p:nvPr/>
        </p:nvCxnSpPr>
        <p:spPr>
          <a:xfrm flipV="1">
            <a:off x="7329364" y="4640516"/>
            <a:ext cx="337342" cy="62081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4DD4265-EC3C-D363-1A57-F5FE42C0A9C2}"/>
              </a:ext>
            </a:extLst>
          </p:cNvPr>
          <p:cNvCxnSpPr>
            <a:stCxn id="8" idx="7"/>
            <a:endCxn id="5" idx="4"/>
          </p:cNvCxnSpPr>
          <p:nvPr/>
        </p:nvCxnSpPr>
        <p:spPr>
          <a:xfrm flipV="1">
            <a:off x="7873612" y="3493187"/>
            <a:ext cx="189155" cy="9404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977E598-A723-3299-D4E7-EBC210F79979}"/>
              </a:ext>
            </a:extLst>
          </p:cNvPr>
          <p:cNvCxnSpPr>
            <a:cxnSpLocks/>
            <a:stCxn id="6" idx="2"/>
            <a:endCxn id="7" idx="6"/>
          </p:cNvCxnSpPr>
          <p:nvPr/>
        </p:nvCxnSpPr>
        <p:spPr>
          <a:xfrm flipH="1">
            <a:off x="7475668" y="5407637"/>
            <a:ext cx="9178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96502ACA-18A3-6DEB-C900-74A649AD59A0}"/>
              </a:ext>
            </a:extLst>
          </p:cNvPr>
          <p:cNvCxnSpPr>
            <a:stCxn id="6" idx="6"/>
            <a:endCxn id="6" idx="0"/>
          </p:cNvCxnSpPr>
          <p:nvPr/>
        </p:nvCxnSpPr>
        <p:spPr>
          <a:xfrm flipH="1" flipV="1">
            <a:off x="8539869" y="5261333"/>
            <a:ext cx="146304" cy="146304"/>
          </a:xfrm>
          <a:prstGeom prst="curvedConnector4">
            <a:avLst>
              <a:gd name="adj1" fmla="val -156250"/>
              <a:gd name="adj2" fmla="val 2562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D1092775-4D1D-7747-2349-ECDF992F2440}"/>
              </a:ext>
            </a:extLst>
          </p:cNvPr>
          <p:cNvSpPr/>
          <p:nvPr/>
        </p:nvSpPr>
        <p:spPr>
          <a:xfrm>
            <a:off x="3525685" y="3761411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155E0A0-10CA-56C9-F93C-32B3F2DCCDE0}"/>
              </a:ext>
            </a:extLst>
          </p:cNvPr>
          <p:cNvSpPr/>
          <p:nvPr/>
        </p:nvSpPr>
        <p:spPr>
          <a:xfrm>
            <a:off x="4519333" y="3200579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E46F4CB-2D82-6F19-74C2-294D8BA4CC47}"/>
              </a:ext>
            </a:extLst>
          </p:cNvPr>
          <p:cNvSpPr/>
          <p:nvPr/>
        </p:nvSpPr>
        <p:spPr>
          <a:xfrm>
            <a:off x="3785930" y="5261333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66AFF84-8247-858E-593E-8960952400C0}"/>
              </a:ext>
            </a:extLst>
          </p:cNvPr>
          <p:cNvSpPr/>
          <p:nvPr/>
        </p:nvSpPr>
        <p:spPr>
          <a:xfrm>
            <a:off x="4226725" y="4390759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9A508BE-AA01-45B4-FBC9-A8F291599D55}"/>
              </a:ext>
            </a:extLst>
          </p:cNvPr>
          <p:cNvCxnSpPr>
            <a:cxnSpLocks/>
            <a:stCxn id="25" idx="2"/>
            <a:endCxn id="23" idx="7"/>
          </p:cNvCxnSpPr>
          <p:nvPr/>
        </p:nvCxnSpPr>
        <p:spPr>
          <a:xfrm flipH="1">
            <a:off x="3775442" y="3346883"/>
            <a:ext cx="743891" cy="45737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59170F8-81A9-CD4A-3C95-EE56DAEFFE1E}"/>
              </a:ext>
            </a:extLst>
          </p:cNvPr>
          <p:cNvCxnSpPr>
            <a:cxnSpLocks/>
            <a:stCxn id="28" idx="1"/>
            <a:endCxn id="23" idx="5"/>
          </p:cNvCxnSpPr>
          <p:nvPr/>
        </p:nvCxnSpPr>
        <p:spPr>
          <a:xfrm flipH="1" flipV="1">
            <a:off x="3775442" y="4011168"/>
            <a:ext cx="494134" cy="42244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21C723A-992C-7086-D968-77BD3E52E8DA}"/>
              </a:ext>
            </a:extLst>
          </p:cNvPr>
          <p:cNvCxnSpPr>
            <a:cxnSpLocks/>
            <a:stCxn id="27" idx="0"/>
            <a:endCxn id="28" idx="3"/>
          </p:cNvCxnSpPr>
          <p:nvPr/>
        </p:nvCxnSpPr>
        <p:spPr>
          <a:xfrm flipV="1">
            <a:off x="3932234" y="4640516"/>
            <a:ext cx="337342" cy="62081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F887BF9-A4B0-F5E3-2A18-01D43BCD64DA}"/>
                  </a:ext>
                </a:extLst>
              </p:cNvPr>
              <p:cNvSpPr txBox="1"/>
              <p:nvPr/>
            </p:nvSpPr>
            <p:spPr>
              <a:xfrm>
                <a:off x="8393565" y="3062078"/>
                <a:ext cx="3455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F887BF9-A4B0-F5E3-2A18-01D43BCD6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3565" y="3062078"/>
                <a:ext cx="34554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71DBE19-1689-68C1-1FB8-87B62BDD0E16}"/>
                  </a:ext>
                </a:extLst>
              </p:cNvPr>
              <p:cNvSpPr txBox="1"/>
              <p:nvPr/>
            </p:nvSpPr>
            <p:spPr>
              <a:xfrm>
                <a:off x="4994355" y="3062078"/>
                <a:ext cx="3155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71DBE19-1689-68C1-1FB8-87B62BDD0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355" y="3062078"/>
                <a:ext cx="31553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444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23" grpId="0" animBg="1"/>
      <p:bldP spid="25" grpId="0" animBg="1"/>
      <p:bldP spid="27" grpId="0" animBg="1"/>
      <p:bldP spid="28" grpId="0" animBg="1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6E5AB-956F-8A0E-8B2D-E63DED3A3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3F413-EFA3-68A7-D78E-3B7A5B4A2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Spanning Subgraph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0BA62B73-9AF0-E047-5BEB-F32CEAE36B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8436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be a graph. We say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spanning subgraph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</m:oMath>
                </a14:m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if and only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</m:oMath>
                </a14:m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is a subgraph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0BA62B73-9AF0-E047-5BEB-F32CEAE36B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843655"/>
              </a:xfrm>
              <a:blipFill>
                <a:blip r:embed="rId3"/>
                <a:stretch>
                  <a:fillRect l="-1217" t="-26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BDD8095F-A8BE-2A2C-FBBE-DB3C4F613418}"/>
              </a:ext>
            </a:extLst>
          </p:cNvPr>
          <p:cNvSpPr/>
          <p:nvPr/>
        </p:nvSpPr>
        <p:spPr>
          <a:xfrm>
            <a:off x="6922815" y="3761411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C0F7113-9137-DC3C-8C01-DFA1B5AD003E}"/>
              </a:ext>
            </a:extLst>
          </p:cNvPr>
          <p:cNvSpPr/>
          <p:nvPr/>
        </p:nvSpPr>
        <p:spPr>
          <a:xfrm>
            <a:off x="7916463" y="3200579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9B8763-1D4D-0EF8-B588-6C3C80195D28}"/>
              </a:ext>
            </a:extLst>
          </p:cNvPr>
          <p:cNvSpPr/>
          <p:nvPr/>
        </p:nvSpPr>
        <p:spPr>
          <a:xfrm>
            <a:off x="8393565" y="5261333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3C899F1-A0F4-185D-F1EE-F10D916B97C6}"/>
              </a:ext>
            </a:extLst>
          </p:cNvPr>
          <p:cNvSpPr/>
          <p:nvPr/>
        </p:nvSpPr>
        <p:spPr>
          <a:xfrm>
            <a:off x="7183060" y="5261333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2DD6F34-0A4E-2582-7127-C3E0A09D2367}"/>
              </a:ext>
            </a:extLst>
          </p:cNvPr>
          <p:cNvSpPr/>
          <p:nvPr/>
        </p:nvSpPr>
        <p:spPr>
          <a:xfrm>
            <a:off x="7623855" y="4390759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A2C588-B8F5-7D52-82DD-1B69B11636CF}"/>
              </a:ext>
            </a:extLst>
          </p:cNvPr>
          <p:cNvCxnSpPr>
            <a:cxnSpLocks/>
            <a:stCxn id="5" idx="2"/>
            <a:endCxn id="4" idx="7"/>
          </p:cNvCxnSpPr>
          <p:nvPr/>
        </p:nvCxnSpPr>
        <p:spPr>
          <a:xfrm flipH="1">
            <a:off x="7172572" y="3346883"/>
            <a:ext cx="743891" cy="45737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B095A8-E460-4B8F-08CD-EE73972AC7D4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7172572" y="4011168"/>
            <a:ext cx="494134" cy="42244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AAE7EE5-6C63-7CA7-0878-1C347DB09516}"/>
              </a:ext>
            </a:extLst>
          </p:cNvPr>
          <p:cNvCxnSpPr>
            <a:cxnSpLocks/>
            <a:stCxn id="7" idx="0"/>
            <a:endCxn id="8" idx="3"/>
          </p:cNvCxnSpPr>
          <p:nvPr/>
        </p:nvCxnSpPr>
        <p:spPr>
          <a:xfrm flipV="1">
            <a:off x="7329364" y="4640516"/>
            <a:ext cx="337342" cy="62081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4D32E10-571E-7BB7-EFE7-716D35946176}"/>
              </a:ext>
            </a:extLst>
          </p:cNvPr>
          <p:cNvCxnSpPr>
            <a:stCxn id="8" idx="7"/>
            <a:endCxn id="5" idx="4"/>
          </p:cNvCxnSpPr>
          <p:nvPr/>
        </p:nvCxnSpPr>
        <p:spPr>
          <a:xfrm flipV="1">
            <a:off x="7873612" y="3493187"/>
            <a:ext cx="189155" cy="9404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83338E-CFA4-7CE3-FF20-6A62E7A7186E}"/>
              </a:ext>
            </a:extLst>
          </p:cNvPr>
          <p:cNvCxnSpPr>
            <a:cxnSpLocks/>
            <a:stCxn id="6" idx="2"/>
            <a:endCxn id="7" idx="6"/>
          </p:cNvCxnSpPr>
          <p:nvPr/>
        </p:nvCxnSpPr>
        <p:spPr>
          <a:xfrm flipH="1">
            <a:off x="7475668" y="5407637"/>
            <a:ext cx="9178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515783A3-F792-7539-3D6C-BB4AA0D46E66}"/>
              </a:ext>
            </a:extLst>
          </p:cNvPr>
          <p:cNvCxnSpPr>
            <a:stCxn id="6" idx="6"/>
            <a:endCxn id="6" idx="0"/>
          </p:cNvCxnSpPr>
          <p:nvPr/>
        </p:nvCxnSpPr>
        <p:spPr>
          <a:xfrm flipH="1" flipV="1">
            <a:off x="8539869" y="5261333"/>
            <a:ext cx="146304" cy="146304"/>
          </a:xfrm>
          <a:prstGeom prst="curvedConnector4">
            <a:avLst>
              <a:gd name="adj1" fmla="val -156250"/>
              <a:gd name="adj2" fmla="val 2562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81AE103F-0B73-79DC-E306-7EA80E37A52E}"/>
              </a:ext>
            </a:extLst>
          </p:cNvPr>
          <p:cNvSpPr/>
          <p:nvPr/>
        </p:nvSpPr>
        <p:spPr>
          <a:xfrm>
            <a:off x="3525685" y="3761411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8B5E960-BF32-19AE-2E01-5C47F09EEAF5}"/>
              </a:ext>
            </a:extLst>
          </p:cNvPr>
          <p:cNvSpPr/>
          <p:nvPr/>
        </p:nvSpPr>
        <p:spPr>
          <a:xfrm>
            <a:off x="4519333" y="3200579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160D0A0-798B-986B-6E9B-032D9A310DEC}"/>
              </a:ext>
            </a:extLst>
          </p:cNvPr>
          <p:cNvSpPr/>
          <p:nvPr/>
        </p:nvSpPr>
        <p:spPr>
          <a:xfrm>
            <a:off x="3785930" y="5261333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9839E50-5556-1E79-6FB1-96E2F680E890}"/>
              </a:ext>
            </a:extLst>
          </p:cNvPr>
          <p:cNvSpPr/>
          <p:nvPr/>
        </p:nvSpPr>
        <p:spPr>
          <a:xfrm>
            <a:off x="4226725" y="4390759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9D93214-EC5A-EEDD-8F3C-BABA53A674A8}"/>
              </a:ext>
            </a:extLst>
          </p:cNvPr>
          <p:cNvCxnSpPr>
            <a:cxnSpLocks/>
            <a:stCxn id="25" idx="2"/>
            <a:endCxn id="23" idx="7"/>
          </p:cNvCxnSpPr>
          <p:nvPr/>
        </p:nvCxnSpPr>
        <p:spPr>
          <a:xfrm flipH="1">
            <a:off x="3775442" y="3346883"/>
            <a:ext cx="743891" cy="45737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39D468F-A5A3-33A8-0CEB-FBC56B847AC7}"/>
              </a:ext>
            </a:extLst>
          </p:cNvPr>
          <p:cNvCxnSpPr>
            <a:cxnSpLocks/>
            <a:stCxn id="28" idx="1"/>
            <a:endCxn id="23" idx="5"/>
          </p:cNvCxnSpPr>
          <p:nvPr/>
        </p:nvCxnSpPr>
        <p:spPr>
          <a:xfrm flipH="1" flipV="1">
            <a:off x="3775442" y="4011168"/>
            <a:ext cx="494134" cy="42244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31F60E3-6C39-8653-3249-0843D0185DC9}"/>
              </a:ext>
            </a:extLst>
          </p:cNvPr>
          <p:cNvCxnSpPr>
            <a:cxnSpLocks/>
            <a:stCxn id="27" idx="0"/>
            <a:endCxn id="28" idx="3"/>
          </p:cNvCxnSpPr>
          <p:nvPr/>
        </p:nvCxnSpPr>
        <p:spPr>
          <a:xfrm flipV="1">
            <a:off x="3932234" y="4640516"/>
            <a:ext cx="337342" cy="62081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AAD2EB0-8B61-6BF9-5E91-DD836650A876}"/>
                  </a:ext>
                </a:extLst>
              </p:cNvPr>
              <p:cNvSpPr txBox="1"/>
              <p:nvPr/>
            </p:nvSpPr>
            <p:spPr>
              <a:xfrm>
                <a:off x="8393565" y="3062078"/>
                <a:ext cx="3455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AAD2EB0-8B61-6BF9-5E91-DD836650A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3565" y="3062078"/>
                <a:ext cx="34554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01EE679-D3A9-5C13-AFFC-D834E87905F5}"/>
                  </a:ext>
                </a:extLst>
              </p:cNvPr>
              <p:cNvSpPr txBox="1"/>
              <p:nvPr/>
            </p:nvSpPr>
            <p:spPr>
              <a:xfrm>
                <a:off x="4994355" y="3062078"/>
                <a:ext cx="3155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01EE679-D3A9-5C13-AFFC-D834E8790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355" y="3062078"/>
                <a:ext cx="31553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3DB194A5-5893-0020-13E6-C75613A711F3}"/>
              </a:ext>
            </a:extLst>
          </p:cNvPr>
          <p:cNvSpPr/>
          <p:nvPr/>
        </p:nvSpPr>
        <p:spPr>
          <a:xfrm>
            <a:off x="4994355" y="5261333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0487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23" grpId="0" animBg="1"/>
      <p:bldP spid="25" grpId="0" animBg="1"/>
      <p:bldP spid="27" grpId="0" animBg="1"/>
      <p:bldP spid="28" grpId="0" animBg="1"/>
      <p:bldP spid="35" grpId="0"/>
      <p:bldP spid="36" grpId="0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21C73-43BC-AD55-5290-A5883EEE9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3632C-6BD2-7491-D10B-50C613C5A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Spanning Subgraph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57C86C4E-B151-92BE-1326-97B5FAC5F6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8436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be a graph. We say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spanning subgraph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</m:oMath>
                </a14:m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if and only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</m:oMath>
                </a14:m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is a subgraph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we denote the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that is created by removing the edge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57C86C4E-B151-92BE-1326-97B5FAC5F6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843655"/>
              </a:xfrm>
              <a:blipFill>
                <a:blip r:embed="rId3"/>
                <a:stretch>
                  <a:fillRect l="-1217" t="-26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340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E5C92-9406-DFCE-DCC0-804C82997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D471C-B89C-320D-39B3-238EEE70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Induced Subgraph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AB3DC7E9-BA58-FA05-CB4E-E1F67CDAA7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8436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be a graph. We say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an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induced subgraph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</m:oMath>
                </a14:m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if and only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</m:oMath>
                </a14:m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is a subgraph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𝑢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AB3DC7E9-BA58-FA05-CB4E-E1F67CDAA7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843655"/>
              </a:xfrm>
              <a:blipFill>
                <a:blip r:embed="rId3"/>
                <a:stretch>
                  <a:fillRect l="-1217" t="-2694" r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55B166F4-60AE-30ED-C793-12B241302098}"/>
              </a:ext>
            </a:extLst>
          </p:cNvPr>
          <p:cNvSpPr/>
          <p:nvPr/>
        </p:nvSpPr>
        <p:spPr>
          <a:xfrm>
            <a:off x="6922815" y="3761411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C9FEF3B-1EFC-C8B4-B719-B374F59E2D9C}"/>
              </a:ext>
            </a:extLst>
          </p:cNvPr>
          <p:cNvSpPr/>
          <p:nvPr/>
        </p:nvSpPr>
        <p:spPr>
          <a:xfrm>
            <a:off x="7916463" y="3200579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3093204-8B60-D7DA-555A-1EC240ADAFA4}"/>
              </a:ext>
            </a:extLst>
          </p:cNvPr>
          <p:cNvSpPr/>
          <p:nvPr/>
        </p:nvSpPr>
        <p:spPr>
          <a:xfrm>
            <a:off x="8393565" y="5261333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8DF193-FD9C-02FC-EB49-FD2C36F60F00}"/>
              </a:ext>
            </a:extLst>
          </p:cNvPr>
          <p:cNvSpPr/>
          <p:nvPr/>
        </p:nvSpPr>
        <p:spPr>
          <a:xfrm>
            <a:off x="7183060" y="5261333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BCEDB2B-37DC-B9A2-EE5B-58B9E710BAE3}"/>
              </a:ext>
            </a:extLst>
          </p:cNvPr>
          <p:cNvSpPr/>
          <p:nvPr/>
        </p:nvSpPr>
        <p:spPr>
          <a:xfrm>
            <a:off x="7623855" y="4390759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ACBDF3-CE00-4689-C93E-B73D64A3C956}"/>
              </a:ext>
            </a:extLst>
          </p:cNvPr>
          <p:cNvCxnSpPr>
            <a:cxnSpLocks/>
            <a:stCxn id="5" idx="2"/>
            <a:endCxn id="4" idx="7"/>
          </p:cNvCxnSpPr>
          <p:nvPr/>
        </p:nvCxnSpPr>
        <p:spPr>
          <a:xfrm flipH="1">
            <a:off x="7172572" y="3346883"/>
            <a:ext cx="743891" cy="45737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34C66EB-B72D-EAF4-2421-2BA0DC766C70}"/>
              </a:ext>
            </a:extLst>
          </p:cNvPr>
          <p:cNvCxnSpPr>
            <a:cxnSpLocks/>
            <a:stCxn id="8" idx="1"/>
            <a:endCxn id="4" idx="5"/>
          </p:cNvCxnSpPr>
          <p:nvPr/>
        </p:nvCxnSpPr>
        <p:spPr>
          <a:xfrm flipH="1" flipV="1">
            <a:off x="7172572" y="4011168"/>
            <a:ext cx="494134" cy="42244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FAC29E-604B-00B9-9DB8-B95BEC4A6626}"/>
              </a:ext>
            </a:extLst>
          </p:cNvPr>
          <p:cNvCxnSpPr>
            <a:cxnSpLocks/>
            <a:stCxn id="7" idx="0"/>
            <a:endCxn id="8" idx="3"/>
          </p:cNvCxnSpPr>
          <p:nvPr/>
        </p:nvCxnSpPr>
        <p:spPr>
          <a:xfrm flipV="1">
            <a:off x="7329364" y="4640516"/>
            <a:ext cx="337342" cy="62081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90858B-51AB-B11B-443C-B61289E536BD}"/>
              </a:ext>
            </a:extLst>
          </p:cNvPr>
          <p:cNvCxnSpPr>
            <a:stCxn id="8" idx="7"/>
            <a:endCxn id="5" idx="4"/>
          </p:cNvCxnSpPr>
          <p:nvPr/>
        </p:nvCxnSpPr>
        <p:spPr>
          <a:xfrm flipV="1">
            <a:off x="7873612" y="3493187"/>
            <a:ext cx="189155" cy="9404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5379F3-710A-F228-D3FE-3C82AE3DD31A}"/>
              </a:ext>
            </a:extLst>
          </p:cNvPr>
          <p:cNvCxnSpPr>
            <a:cxnSpLocks/>
            <a:stCxn id="6" idx="2"/>
            <a:endCxn id="7" idx="6"/>
          </p:cNvCxnSpPr>
          <p:nvPr/>
        </p:nvCxnSpPr>
        <p:spPr>
          <a:xfrm flipH="1">
            <a:off x="7475668" y="5407637"/>
            <a:ext cx="9178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0C8B7622-C7B1-2F54-CEED-6566CABFDBF2}"/>
              </a:ext>
            </a:extLst>
          </p:cNvPr>
          <p:cNvCxnSpPr>
            <a:stCxn id="6" idx="6"/>
            <a:endCxn id="6" idx="0"/>
          </p:cNvCxnSpPr>
          <p:nvPr/>
        </p:nvCxnSpPr>
        <p:spPr>
          <a:xfrm flipH="1" flipV="1">
            <a:off x="8539869" y="5261333"/>
            <a:ext cx="146304" cy="146304"/>
          </a:xfrm>
          <a:prstGeom prst="curvedConnector4">
            <a:avLst>
              <a:gd name="adj1" fmla="val -156250"/>
              <a:gd name="adj2" fmla="val 2562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EDCEA64-0B6A-8D9C-5D55-844DEADF58E0}"/>
                  </a:ext>
                </a:extLst>
              </p:cNvPr>
              <p:cNvSpPr txBox="1"/>
              <p:nvPr/>
            </p:nvSpPr>
            <p:spPr>
              <a:xfrm>
                <a:off x="8393565" y="3062078"/>
                <a:ext cx="34554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EDCEA64-0B6A-8D9C-5D55-844DEADF5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3565" y="3062078"/>
                <a:ext cx="34554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1EA4B6C-6C0E-EC06-C6B3-24E74A40FF86}"/>
                  </a:ext>
                </a:extLst>
              </p:cNvPr>
              <p:cNvSpPr txBox="1"/>
              <p:nvPr/>
            </p:nvSpPr>
            <p:spPr>
              <a:xfrm>
                <a:off x="4994355" y="3062078"/>
                <a:ext cx="3155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1EA4B6C-6C0E-EC06-C6B3-24E74A40F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355" y="3062078"/>
                <a:ext cx="31553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B6C0E822-D69D-5C4E-1E80-663246D37223}"/>
              </a:ext>
            </a:extLst>
          </p:cNvPr>
          <p:cNvSpPr/>
          <p:nvPr/>
        </p:nvSpPr>
        <p:spPr>
          <a:xfrm>
            <a:off x="3564232" y="3761411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D9F011B-0B95-C59E-BA62-19DE6108637A}"/>
              </a:ext>
            </a:extLst>
          </p:cNvPr>
          <p:cNvSpPr/>
          <p:nvPr/>
        </p:nvSpPr>
        <p:spPr>
          <a:xfrm>
            <a:off x="4557880" y="3200579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07D4868-D517-2495-259A-A40EB1F3E4FC}"/>
              </a:ext>
            </a:extLst>
          </p:cNvPr>
          <p:cNvSpPr/>
          <p:nvPr/>
        </p:nvSpPr>
        <p:spPr>
          <a:xfrm>
            <a:off x="5034982" y="5261333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01336B8-B9B1-12D9-C13D-3701B5730788}"/>
              </a:ext>
            </a:extLst>
          </p:cNvPr>
          <p:cNvSpPr/>
          <p:nvPr/>
        </p:nvSpPr>
        <p:spPr>
          <a:xfrm>
            <a:off x="4265272" y="4390759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E6B0044-CCEA-87B4-7CB8-9C48CCAF708A}"/>
              </a:ext>
            </a:extLst>
          </p:cNvPr>
          <p:cNvCxnSpPr>
            <a:cxnSpLocks/>
            <a:stCxn id="26" idx="2"/>
            <a:endCxn id="25" idx="7"/>
          </p:cNvCxnSpPr>
          <p:nvPr/>
        </p:nvCxnSpPr>
        <p:spPr>
          <a:xfrm flipH="1">
            <a:off x="3813989" y="3346883"/>
            <a:ext cx="743891" cy="45737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94374AA-8767-5E29-21D4-40E0C12CACCA}"/>
              </a:ext>
            </a:extLst>
          </p:cNvPr>
          <p:cNvCxnSpPr>
            <a:cxnSpLocks/>
            <a:stCxn id="29" idx="1"/>
            <a:endCxn id="25" idx="5"/>
          </p:cNvCxnSpPr>
          <p:nvPr/>
        </p:nvCxnSpPr>
        <p:spPr>
          <a:xfrm flipH="1" flipV="1">
            <a:off x="3813989" y="4011168"/>
            <a:ext cx="494134" cy="42244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1BD838A-86E1-D9E6-9FB4-905FCF024AEB}"/>
              </a:ext>
            </a:extLst>
          </p:cNvPr>
          <p:cNvCxnSpPr>
            <a:stCxn id="29" idx="7"/>
            <a:endCxn id="26" idx="4"/>
          </p:cNvCxnSpPr>
          <p:nvPr/>
        </p:nvCxnSpPr>
        <p:spPr>
          <a:xfrm flipV="1">
            <a:off x="4515029" y="3493187"/>
            <a:ext cx="189155" cy="9404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0B3484D9-09EE-BA0A-3312-838AAA7C2CC5}"/>
              </a:ext>
            </a:extLst>
          </p:cNvPr>
          <p:cNvCxnSpPr>
            <a:stCxn id="27" idx="6"/>
            <a:endCxn id="27" idx="0"/>
          </p:cNvCxnSpPr>
          <p:nvPr/>
        </p:nvCxnSpPr>
        <p:spPr>
          <a:xfrm flipH="1" flipV="1">
            <a:off x="5181286" y="5261333"/>
            <a:ext cx="146304" cy="146304"/>
          </a:xfrm>
          <a:prstGeom prst="curvedConnector4">
            <a:avLst>
              <a:gd name="adj1" fmla="val -156250"/>
              <a:gd name="adj2" fmla="val 2562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71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22" grpId="0"/>
      <p:bldP spid="23" grpId="0"/>
      <p:bldP spid="25" grpId="0" animBg="1"/>
      <p:bldP spid="26" grpId="0" animBg="1"/>
      <p:bldP spid="27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62AB8-EB95-3866-064E-9E1C35B67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BDB4F-7920-4255-2E42-4BBAF44FF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Induced Subgraph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07D50EDC-8A9D-A834-75C7-6B28E70CFC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8436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be a graph. We say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an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induced subgraph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</m:oMath>
                </a14:m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if and only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</m:oMath>
                </a14:m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is a subgraph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𝑢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𝑣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we denote the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𝑢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𝑤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𝐸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: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𝑢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that is created by removing the vertex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𝑣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and any edges incident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𝑣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07D50EDC-8A9D-A834-75C7-6B28E70CFC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843655"/>
              </a:xfrm>
              <a:blipFill>
                <a:blip r:embed="rId3"/>
                <a:stretch>
                  <a:fillRect l="-1217" t="-2694" r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2150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91F3D-E3C5-6106-AF1F-EB64D1727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32186-37BB-6E00-54B3-F0EB0C266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Clique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7855EF3F-6F60-9B11-2D4B-D5CBB12CC3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8436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be a graph. We say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clique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if and only if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we have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7855EF3F-6F60-9B11-2D4B-D5CBB12CC3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843655"/>
              </a:xfrm>
              <a:blipFill>
                <a:blip r:embed="rId3"/>
                <a:stretch>
                  <a:fillRect l="-1217" t="-2694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93F914C3-0D8F-DF63-43FF-D0ECD5D94CA6}"/>
              </a:ext>
            </a:extLst>
          </p:cNvPr>
          <p:cNvSpPr/>
          <p:nvPr/>
        </p:nvSpPr>
        <p:spPr>
          <a:xfrm>
            <a:off x="6381885" y="5376672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B45A3BE-55BF-B316-28DB-2A266D3197F9}"/>
              </a:ext>
            </a:extLst>
          </p:cNvPr>
          <p:cNvSpPr/>
          <p:nvPr/>
        </p:nvSpPr>
        <p:spPr>
          <a:xfrm>
            <a:off x="5171380" y="5376672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FE68834-0D8A-FE68-0BE2-677F81C16A75}"/>
              </a:ext>
            </a:extLst>
          </p:cNvPr>
          <p:cNvCxnSpPr>
            <a:cxnSpLocks/>
          </p:cNvCxnSpPr>
          <p:nvPr/>
        </p:nvCxnSpPr>
        <p:spPr>
          <a:xfrm flipH="1">
            <a:off x="5160892" y="3462222"/>
            <a:ext cx="743891" cy="45737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C99440-A7C4-6BE3-78AE-128A206F2B75}"/>
              </a:ext>
            </a:extLst>
          </p:cNvPr>
          <p:cNvCxnSpPr>
            <a:cxnSpLocks/>
          </p:cNvCxnSpPr>
          <p:nvPr/>
        </p:nvCxnSpPr>
        <p:spPr>
          <a:xfrm flipH="1" flipV="1">
            <a:off x="5160892" y="4126507"/>
            <a:ext cx="494134" cy="42244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F8537E-5B72-21DA-6FD0-122F3178721E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5317684" y="4755855"/>
            <a:ext cx="337342" cy="62081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FF8D4C-EAB6-26FF-092D-1E7112E057B4}"/>
              </a:ext>
            </a:extLst>
          </p:cNvPr>
          <p:cNvCxnSpPr>
            <a:cxnSpLocks/>
            <a:stCxn id="6" idx="2"/>
            <a:endCxn id="7" idx="6"/>
          </p:cNvCxnSpPr>
          <p:nvPr/>
        </p:nvCxnSpPr>
        <p:spPr>
          <a:xfrm flipH="1">
            <a:off x="5463988" y="5522976"/>
            <a:ext cx="9178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8950DF80-9CDD-3906-C901-19AC316129C3}"/>
              </a:ext>
            </a:extLst>
          </p:cNvPr>
          <p:cNvCxnSpPr>
            <a:cxnSpLocks/>
            <a:stCxn id="6" idx="6"/>
            <a:endCxn id="6" idx="0"/>
          </p:cNvCxnSpPr>
          <p:nvPr/>
        </p:nvCxnSpPr>
        <p:spPr>
          <a:xfrm flipH="1" flipV="1">
            <a:off x="6528189" y="5376672"/>
            <a:ext cx="146304" cy="146304"/>
          </a:xfrm>
          <a:prstGeom prst="curvedConnector4">
            <a:avLst>
              <a:gd name="adj1" fmla="val -156250"/>
              <a:gd name="adj2" fmla="val 2562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90EC632-0D8C-BA46-90A4-94C2123F7780}"/>
              </a:ext>
            </a:extLst>
          </p:cNvPr>
          <p:cNvCxnSpPr>
            <a:cxnSpLocks/>
          </p:cNvCxnSpPr>
          <p:nvPr/>
        </p:nvCxnSpPr>
        <p:spPr>
          <a:xfrm flipH="1">
            <a:off x="5861932" y="3608526"/>
            <a:ext cx="189155" cy="94042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5F35F9BE-232E-AA80-4B4D-59D0C441D855}"/>
              </a:ext>
            </a:extLst>
          </p:cNvPr>
          <p:cNvSpPr/>
          <p:nvPr/>
        </p:nvSpPr>
        <p:spPr>
          <a:xfrm>
            <a:off x="4911135" y="3876750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4BC83E3-2761-A7B2-294E-4F32F9BEA9A5}"/>
              </a:ext>
            </a:extLst>
          </p:cNvPr>
          <p:cNvSpPr/>
          <p:nvPr/>
        </p:nvSpPr>
        <p:spPr>
          <a:xfrm>
            <a:off x="5904783" y="3315918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2723271-2747-6BE4-0D1B-7A371D3C951C}"/>
              </a:ext>
            </a:extLst>
          </p:cNvPr>
          <p:cNvSpPr/>
          <p:nvPr/>
        </p:nvSpPr>
        <p:spPr>
          <a:xfrm>
            <a:off x="5612175" y="4506098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4083483-D8EA-0602-420B-153F96334C05}"/>
              </a:ext>
            </a:extLst>
          </p:cNvPr>
          <p:cNvSpPr/>
          <p:nvPr/>
        </p:nvSpPr>
        <p:spPr>
          <a:xfrm>
            <a:off x="4911135" y="3872446"/>
            <a:ext cx="292608" cy="292608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6158A3B-0A3D-54B4-328D-D85347ED666F}"/>
              </a:ext>
            </a:extLst>
          </p:cNvPr>
          <p:cNvSpPr/>
          <p:nvPr/>
        </p:nvSpPr>
        <p:spPr>
          <a:xfrm>
            <a:off x="5904783" y="3311614"/>
            <a:ext cx="292608" cy="292608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6C96A0E-5F7D-10A6-274B-DA68F85FFF4B}"/>
              </a:ext>
            </a:extLst>
          </p:cNvPr>
          <p:cNvSpPr/>
          <p:nvPr/>
        </p:nvSpPr>
        <p:spPr>
          <a:xfrm>
            <a:off x="5612175" y="4501794"/>
            <a:ext cx="292608" cy="292608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30126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DF670-F4DA-01F3-4CD5-7A3D5C6BD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1726B-42AF-9D89-6048-EF3DCD799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Independent Set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CC6AB084-7A01-BA9F-6833-424281497A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8436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be a graph. We say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an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independent set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if and only if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𝐼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we have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∉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CC6AB084-7A01-BA9F-6833-424281497A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843655"/>
              </a:xfrm>
              <a:blipFill>
                <a:blip r:embed="rId3"/>
                <a:stretch>
                  <a:fillRect l="-1217" t="-26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6DB4644B-711C-F1B6-642F-8BD850823EBA}"/>
              </a:ext>
            </a:extLst>
          </p:cNvPr>
          <p:cNvSpPr/>
          <p:nvPr/>
        </p:nvSpPr>
        <p:spPr>
          <a:xfrm>
            <a:off x="6381885" y="5376672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2367292-CAC8-3C9D-444E-F3FB3E01FCAC}"/>
              </a:ext>
            </a:extLst>
          </p:cNvPr>
          <p:cNvSpPr/>
          <p:nvPr/>
        </p:nvSpPr>
        <p:spPr>
          <a:xfrm>
            <a:off x="5171380" y="5376672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1656E39-3A55-0313-525B-AEA2CA21B14C}"/>
              </a:ext>
            </a:extLst>
          </p:cNvPr>
          <p:cNvCxnSpPr>
            <a:cxnSpLocks/>
          </p:cNvCxnSpPr>
          <p:nvPr/>
        </p:nvCxnSpPr>
        <p:spPr>
          <a:xfrm flipH="1">
            <a:off x="5160892" y="3462222"/>
            <a:ext cx="743891" cy="45737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2B2612-4FEB-660B-2FCC-BF6378B6796C}"/>
              </a:ext>
            </a:extLst>
          </p:cNvPr>
          <p:cNvCxnSpPr>
            <a:cxnSpLocks/>
          </p:cNvCxnSpPr>
          <p:nvPr/>
        </p:nvCxnSpPr>
        <p:spPr>
          <a:xfrm flipH="1" flipV="1">
            <a:off x="5160892" y="4126507"/>
            <a:ext cx="494134" cy="42244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5041E2-D289-44BA-1311-AB28C81B57FC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5317684" y="4755855"/>
            <a:ext cx="337342" cy="62081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4B7974-DAE0-2E4D-894B-B7419AB3E25F}"/>
              </a:ext>
            </a:extLst>
          </p:cNvPr>
          <p:cNvCxnSpPr>
            <a:cxnSpLocks/>
            <a:stCxn id="6" idx="2"/>
            <a:endCxn id="7" idx="6"/>
          </p:cNvCxnSpPr>
          <p:nvPr/>
        </p:nvCxnSpPr>
        <p:spPr>
          <a:xfrm flipH="1">
            <a:off x="5463988" y="5522976"/>
            <a:ext cx="9178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B5E713C0-1E32-39F5-5C8F-AD877EDDFDE8}"/>
              </a:ext>
            </a:extLst>
          </p:cNvPr>
          <p:cNvCxnSpPr>
            <a:cxnSpLocks/>
            <a:stCxn id="6" idx="6"/>
            <a:endCxn id="6" idx="0"/>
          </p:cNvCxnSpPr>
          <p:nvPr/>
        </p:nvCxnSpPr>
        <p:spPr>
          <a:xfrm flipH="1" flipV="1">
            <a:off x="6528189" y="5376672"/>
            <a:ext cx="146304" cy="146304"/>
          </a:xfrm>
          <a:prstGeom prst="curvedConnector4">
            <a:avLst>
              <a:gd name="adj1" fmla="val -156250"/>
              <a:gd name="adj2" fmla="val 2562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51D8E8-6DB6-6230-2322-E5EA0CA6B7FE}"/>
              </a:ext>
            </a:extLst>
          </p:cNvPr>
          <p:cNvCxnSpPr>
            <a:cxnSpLocks/>
          </p:cNvCxnSpPr>
          <p:nvPr/>
        </p:nvCxnSpPr>
        <p:spPr>
          <a:xfrm flipH="1">
            <a:off x="5861932" y="3608526"/>
            <a:ext cx="189155" cy="94042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6A3FC939-33C4-A7DE-9FC3-27EC51FB8371}"/>
              </a:ext>
            </a:extLst>
          </p:cNvPr>
          <p:cNvSpPr/>
          <p:nvPr/>
        </p:nvSpPr>
        <p:spPr>
          <a:xfrm>
            <a:off x="4911135" y="3876750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8675C22-BAF3-27D0-75B9-95CCBBACDDAC}"/>
              </a:ext>
            </a:extLst>
          </p:cNvPr>
          <p:cNvSpPr/>
          <p:nvPr/>
        </p:nvSpPr>
        <p:spPr>
          <a:xfrm>
            <a:off x="5904783" y="3315918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F0F495C-D454-E0E9-C7C0-0987F64E3DC2}"/>
              </a:ext>
            </a:extLst>
          </p:cNvPr>
          <p:cNvSpPr/>
          <p:nvPr/>
        </p:nvSpPr>
        <p:spPr>
          <a:xfrm>
            <a:off x="5612175" y="4506098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8B84A66-C7EF-F695-7476-A7361EA85C4F}"/>
              </a:ext>
            </a:extLst>
          </p:cNvPr>
          <p:cNvSpPr/>
          <p:nvPr/>
        </p:nvSpPr>
        <p:spPr>
          <a:xfrm>
            <a:off x="4911135" y="3872446"/>
            <a:ext cx="292608" cy="292608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73C2F30-80BF-0F2B-A5B5-2F6950E65E98}"/>
              </a:ext>
            </a:extLst>
          </p:cNvPr>
          <p:cNvSpPr/>
          <p:nvPr/>
        </p:nvSpPr>
        <p:spPr>
          <a:xfrm>
            <a:off x="5171380" y="5376672"/>
            <a:ext cx="292608" cy="292608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2623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0" grpId="0" animBg="1"/>
      <p:bldP spid="21" grpId="0" animBg="1"/>
      <p:bldP spid="22" grpId="0" animBg="1"/>
      <p:bldP spid="2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45D86-28D1-545C-B97D-3508AA39A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9487E-9539-4598-7B7B-0CFBEBBC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Complement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A41A5D7A-D095-753B-A5A4-E133C5F94C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8436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be a graph. We use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to denote the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complement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𝐸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A41A5D7A-D095-753B-A5A4-E133C5F94C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843655"/>
              </a:xfrm>
              <a:blipFill>
                <a:blip r:embed="rId3"/>
                <a:stretch>
                  <a:fillRect l="-1217" t="-26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Oval 36">
            <a:extLst>
              <a:ext uri="{FF2B5EF4-FFF2-40B4-BE49-F238E27FC236}">
                <a16:creationId xmlns:a16="http://schemas.microsoft.com/office/drawing/2014/main" id="{81696A23-62A3-9566-DFA4-489943633414}"/>
              </a:ext>
            </a:extLst>
          </p:cNvPr>
          <p:cNvSpPr/>
          <p:nvPr/>
        </p:nvSpPr>
        <p:spPr>
          <a:xfrm>
            <a:off x="6922815" y="3761411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B90DD86-35E9-3B9D-9791-E0D805EF83AA}"/>
              </a:ext>
            </a:extLst>
          </p:cNvPr>
          <p:cNvSpPr/>
          <p:nvPr/>
        </p:nvSpPr>
        <p:spPr>
          <a:xfrm>
            <a:off x="7916463" y="3200579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A07BF22-4233-A62C-D85B-E4378C448C2D}"/>
              </a:ext>
            </a:extLst>
          </p:cNvPr>
          <p:cNvSpPr/>
          <p:nvPr/>
        </p:nvSpPr>
        <p:spPr>
          <a:xfrm>
            <a:off x="8393565" y="5261333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FB0E085-D5A0-3FA2-C0CF-66D7DBA1CAB1}"/>
              </a:ext>
            </a:extLst>
          </p:cNvPr>
          <p:cNvSpPr/>
          <p:nvPr/>
        </p:nvSpPr>
        <p:spPr>
          <a:xfrm>
            <a:off x="7183060" y="5261333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CE5EA9E-4A24-D8F7-383C-3078F67D47D3}"/>
              </a:ext>
            </a:extLst>
          </p:cNvPr>
          <p:cNvSpPr/>
          <p:nvPr/>
        </p:nvSpPr>
        <p:spPr>
          <a:xfrm>
            <a:off x="7623855" y="4390759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C4AE8F9-DF92-85AA-D071-784DB32BF603}"/>
              </a:ext>
            </a:extLst>
          </p:cNvPr>
          <p:cNvCxnSpPr>
            <a:cxnSpLocks/>
            <a:stCxn id="38" idx="2"/>
            <a:endCxn id="37" idx="7"/>
          </p:cNvCxnSpPr>
          <p:nvPr/>
        </p:nvCxnSpPr>
        <p:spPr>
          <a:xfrm flipH="1">
            <a:off x="7172572" y="3346883"/>
            <a:ext cx="743891" cy="45737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B9F069F-2091-A68F-4774-596DD77A1DEE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7172572" y="4011168"/>
            <a:ext cx="494134" cy="42244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C767463-A200-F0EA-52DE-FDDB8553375B}"/>
              </a:ext>
            </a:extLst>
          </p:cNvPr>
          <p:cNvCxnSpPr>
            <a:cxnSpLocks/>
            <a:stCxn id="40" idx="0"/>
            <a:endCxn id="41" idx="3"/>
          </p:cNvCxnSpPr>
          <p:nvPr/>
        </p:nvCxnSpPr>
        <p:spPr>
          <a:xfrm flipV="1">
            <a:off x="7329364" y="4640516"/>
            <a:ext cx="337342" cy="62081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217D765-9BEE-4221-B49B-E1D30B84101B}"/>
              </a:ext>
            </a:extLst>
          </p:cNvPr>
          <p:cNvCxnSpPr>
            <a:stCxn id="41" idx="7"/>
            <a:endCxn id="38" idx="4"/>
          </p:cNvCxnSpPr>
          <p:nvPr/>
        </p:nvCxnSpPr>
        <p:spPr>
          <a:xfrm flipV="1">
            <a:off x="7873612" y="3493187"/>
            <a:ext cx="189155" cy="9404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FC8A44D-4935-2C19-E932-F20563AC82A2}"/>
              </a:ext>
            </a:extLst>
          </p:cNvPr>
          <p:cNvCxnSpPr>
            <a:cxnSpLocks/>
            <a:stCxn id="39" idx="2"/>
            <a:endCxn id="40" idx="6"/>
          </p:cNvCxnSpPr>
          <p:nvPr/>
        </p:nvCxnSpPr>
        <p:spPr>
          <a:xfrm flipH="1">
            <a:off x="7475668" y="5407637"/>
            <a:ext cx="9178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05E43FDB-ADEC-A7E5-B4FE-9190F633B73C}"/>
              </a:ext>
            </a:extLst>
          </p:cNvPr>
          <p:cNvCxnSpPr>
            <a:cxnSpLocks/>
            <a:stCxn id="48" idx="0"/>
            <a:endCxn id="48" idx="2"/>
          </p:cNvCxnSpPr>
          <p:nvPr/>
        </p:nvCxnSpPr>
        <p:spPr>
          <a:xfrm rot="16200000" flipH="1" flipV="1">
            <a:off x="3525685" y="3761411"/>
            <a:ext cx="146304" cy="146304"/>
          </a:xfrm>
          <a:prstGeom prst="curvedConnector4">
            <a:avLst>
              <a:gd name="adj1" fmla="val -156250"/>
              <a:gd name="adj2" fmla="val 2562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0E35A952-31CB-2CAD-47CE-75DA6090E2DD}"/>
              </a:ext>
            </a:extLst>
          </p:cNvPr>
          <p:cNvSpPr/>
          <p:nvPr/>
        </p:nvSpPr>
        <p:spPr>
          <a:xfrm>
            <a:off x="3525685" y="3761411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78F909E-9497-4F8A-3977-9905C61D832B}"/>
              </a:ext>
            </a:extLst>
          </p:cNvPr>
          <p:cNvSpPr/>
          <p:nvPr/>
        </p:nvSpPr>
        <p:spPr>
          <a:xfrm>
            <a:off x="4519333" y="3200579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5FF555F-E88D-023F-7AA4-09A2F761D41A}"/>
              </a:ext>
            </a:extLst>
          </p:cNvPr>
          <p:cNvSpPr/>
          <p:nvPr/>
        </p:nvSpPr>
        <p:spPr>
          <a:xfrm>
            <a:off x="3785930" y="5261333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27E114B-EB4B-C44F-DB09-94B51F75A75C}"/>
              </a:ext>
            </a:extLst>
          </p:cNvPr>
          <p:cNvSpPr/>
          <p:nvPr/>
        </p:nvSpPr>
        <p:spPr>
          <a:xfrm>
            <a:off x="4354099" y="4365068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10D3BBD-45C9-099F-ED0C-8B5E66D98A8D}"/>
                  </a:ext>
                </a:extLst>
              </p:cNvPr>
              <p:cNvSpPr txBox="1"/>
              <p:nvPr/>
            </p:nvSpPr>
            <p:spPr>
              <a:xfrm>
                <a:off x="8393565" y="3062078"/>
                <a:ext cx="315535" cy="4317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10D3BBD-45C9-099F-ED0C-8B5E66D98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3565" y="3062078"/>
                <a:ext cx="315535" cy="43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034FA75-5604-5A04-0B01-EBE1B3A4EA34}"/>
                  </a:ext>
                </a:extLst>
              </p:cNvPr>
              <p:cNvSpPr txBox="1"/>
              <p:nvPr/>
            </p:nvSpPr>
            <p:spPr>
              <a:xfrm>
                <a:off x="4994355" y="3062078"/>
                <a:ext cx="3155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034FA75-5604-5A04-0B01-EBE1B3A4E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355" y="3062078"/>
                <a:ext cx="31553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56">
            <a:extLst>
              <a:ext uri="{FF2B5EF4-FFF2-40B4-BE49-F238E27FC236}">
                <a16:creationId xmlns:a16="http://schemas.microsoft.com/office/drawing/2014/main" id="{553DD2E8-3451-4AAC-7B34-8C89C1CE3FD0}"/>
              </a:ext>
            </a:extLst>
          </p:cNvPr>
          <p:cNvSpPr/>
          <p:nvPr/>
        </p:nvSpPr>
        <p:spPr>
          <a:xfrm>
            <a:off x="4994355" y="5261333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414E452-02E1-5B3E-B46F-BF1AA0AB1596}"/>
              </a:ext>
            </a:extLst>
          </p:cNvPr>
          <p:cNvCxnSpPr>
            <a:cxnSpLocks/>
            <a:stCxn id="48" idx="4"/>
            <a:endCxn id="50" idx="1"/>
          </p:cNvCxnSpPr>
          <p:nvPr/>
        </p:nvCxnSpPr>
        <p:spPr>
          <a:xfrm>
            <a:off x="3671989" y="4054019"/>
            <a:ext cx="156792" cy="125016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6783D20-A25A-6C88-076E-948CB3FCB307}"/>
              </a:ext>
            </a:extLst>
          </p:cNvPr>
          <p:cNvCxnSpPr>
            <a:cxnSpLocks/>
            <a:stCxn id="51" idx="5"/>
            <a:endCxn id="57" idx="1"/>
          </p:cNvCxnSpPr>
          <p:nvPr/>
        </p:nvCxnSpPr>
        <p:spPr>
          <a:xfrm>
            <a:off x="4603856" y="4614825"/>
            <a:ext cx="433350" cy="68935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6F74B12-02B4-863E-FBE1-D03EE42F06C0}"/>
              </a:ext>
            </a:extLst>
          </p:cNvPr>
          <p:cNvCxnSpPr>
            <a:cxnSpLocks/>
            <a:stCxn id="48" idx="5"/>
            <a:endCxn id="57" idx="2"/>
          </p:cNvCxnSpPr>
          <p:nvPr/>
        </p:nvCxnSpPr>
        <p:spPr>
          <a:xfrm>
            <a:off x="3775442" y="4011168"/>
            <a:ext cx="1218913" cy="139646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79FFCBE-17DA-0293-97BD-85B4CE54106F}"/>
              </a:ext>
            </a:extLst>
          </p:cNvPr>
          <p:cNvCxnSpPr>
            <a:cxnSpLocks/>
            <a:stCxn id="50" idx="6"/>
            <a:endCxn id="57" idx="3"/>
          </p:cNvCxnSpPr>
          <p:nvPr/>
        </p:nvCxnSpPr>
        <p:spPr>
          <a:xfrm>
            <a:off x="4078538" y="5407637"/>
            <a:ext cx="958668" cy="103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969EF5F-8F41-4B79-DC4E-709EB9970875}"/>
              </a:ext>
            </a:extLst>
          </p:cNvPr>
          <p:cNvCxnSpPr>
            <a:cxnSpLocks/>
            <a:stCxn id="49" idx="3"/>
            <a:endCxn id="50" idx="0"/>
          </p:cNvCxnSpPr>
          <p:nvPr/>
        </p:nvCxnSpPr>
        <p:spPr>
          <a:xfrm flipH="1">
            <a:off x="3932234" y="3450336"/>
            <a:ext cx="629950" cy="1810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641E7C7-0E30-9AFB-8F83-04D3DBAA30B9}"/>
              </a:ext>
            </a:extLst>
          </p:cNvPr>
          <p:cNvCxnSpPr>
            <a:cxnSpLocks/>
            <a:stCxn id="49" idx="5"/>
            <a:endCxn id="57" idx="0"/>
          </p:cNvCxnSpPr>
          <p:nvPr/>
        </p:nvCxnSpPr>
        <p:spPr>
          <a:xfrm>
            <a:off x="4769090" y="3450336"/>
            <a:ext cx="371569" cy="18109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Curved 84">
            <a:extLst>
              <a:ext uri="{FF2B5EF4-FFF2-40B4-BE49-F238E27FC236}">
                <a16:creationId xmlns:a16="http://schemas.microsoft.com/office/drawing/2014/main" id="{DAD54901-EA59-6A30-C8BE-701C4EE992A0}"/>
              </a:ext>
            </a:extLst>
          </p:cNvPr>
          <p:cNvCxnSpPr>
            <a:cxnSpLocks/>
            <a:stCxn id="50" idx="4"/>
            <a:endCxn id="50" idx="2"/>
          </p:cNvCxnSpPr>
          <p:nvPr/>
        </p:nvCxnSpPr>
        <p:spPr>
          <a:xfrm rot="5400000" flipH="1">
            <a:off x="3785930" y="5407637"/>
            <a:ext cx="146304" cy="146304"/>
          </a:xfrm>
          <a:prstGeom prst="curvedConnector4">
            <a:avLst>
              <a:gd name="adj1" fmla="val -156250"/>
              <a:gd name="adj2" fmla="val 2562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Curved 88">
            <a:extLst>
              <a:ext uri="{FF2B5EF4-FFF2-40B4-BE49-F238E27FC236}">
                <a16:creationId xmlns:a16="http://schemas.microsoft.com/office/drawing/2014/main" id="{2BB23786-2DE8-117C-251A-1F14557D3C1B}"/>
              </a:ext>
            </a:extLst>
          </p:cNvPr>
          <p:cNvCxnSpPr>
            <a:cxnSpLocks/>
            <a:stCxn id="39" idx="6"/>
            <a:endCxn id="39" idx="0"/>
          </p:cNvCxnSpPr>
          <p:nvPr/>
        </p:nvCxnSpPr>
        <p:spPr>
          <a:xfrm flipH="1" flipV="1">
            <a:off x="8539869" y="5261333"/>
            <a:ext cx="146304" cy="146304"/>
          </a:xfrm>
          <a:prstGeom prst="curvedConnector4">
            <a:avLst>
              <a:gd name="adj1" fmla="val -156250"/>
              <a:gd name="adj2" fmla="val 2562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Curved 92">
            <a:extLst>
              <a:ext uri="{FF2B5EF4-FFF2-40B4-BE49-F238E27FC236}">
                <a16:creationId xmlns:a16="http://schemas.microsoft.com/office/drawing/2014/main" id="{06F66BCE-00CE-EFB4-51F8-C81DC1DF11B2}"/>
              </a:ext>
            </a:extLst>
          </p:cNvPr>
          <p:cNvCxnSpPr>
            <a:cxnSpLocks/>
            <a:stCxn id="49" idx="2"/>
            <a:endCxn id="49" idx="0"/>
          </p:cNvCxnSpPr>
          <p:nvPr/>
        </p:nvCxnSpPr>
        <p:spPr>
          <a:xfrm rot="10800000" flipH="1">
            <a:off x="4519333" y="3200579"/>
            <a:ext cx="146304" cy="146304"/>
          </a:xfrm>
          <a:prstGeom prst="curvedConnector4">
            <a:avLst>
              <a:gd name="adj1" fmla="val -156250"/>
              <a:gd name="adj2" fmla="val 2562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Curved 100">
            <a:extLst>
              <a:ext uri="{FF2B5EF4-FFF2-40B4-BE49-F238E27FC236}">
                <a16:creationId xmlns:a16="http://schemas.microsoft.com/office/drawing/2014/main" id="{A5C68A43-108F-4EFD-3216-8F0E8602A4B1}"/>
              </a:ext>
            </a:extLst>
          </p:cNvPr>
          <p:cNvCxnSpPr>
            <a:cxnSpLocks/>
            <a:stCxn id="51" idx="6"/>
            <a:endCxn id="51" idx="0"/>
          </p:cNvCxnSpPr>
          <p:nvPr/>
        </p:nvCxnSpPr>
        <p:spPr>
          <a:xfrm flipH="1" flipV="1">
            <a:off x="4500403" y="4365068"/>
            <a:ext cx="146304" cy="146304"/>
          </a:xfrm>
          <a:prstGeom prst="curvedConnector4">
            <a:avLst>
              <a:gd name="adj1" fmla="val -156250"/>
              <a:gd name="adj2" fmla="val 2562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Speech Bubble: Oval 106">
            <a:extLst>
              <a:ext uri="{FF2B5EF4-FFF2-40B4-BE49-F238E27FC236}">
                <a16:creationId xmlns:a16="http://schemas.microsoft.com/office/drawing/2014/main" id="{18ABA4DF-7E5A-2D8D-7923-0AF7278D1D93}"/>
              </a:ext>
            </a:extLst>
          </p:cNvPr>
          <p:cNvSpPr/>
          <p:nvPr/>
        </p:nvSpPr>
        <p:spPr>
          <a:xfrm>
            <a:off x="9039899" y="2912949"/>
            <a:ext cx="3014941" cy="994767"/>
          </a:xfrm>
          <a:prstGeom prst="wedgeEllipseCallout">
            <a:avLst>
              <a:gd name="adj1" fmla="val -53743"/>
              <a:gd name="adj2" fmla="val 5103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A1E9707-DD47-2D01-16EB-F35A368793F9}"/>
              </a:ext>
            </a:extLst>
          </p:cNvPr>
          <p:cNvSpPr txBox="1"/>
          <p:nvPr/>
        </p:nvSpPr>
        <p:spPr>
          <a:xfrm>
            <a:off x="9390624" y="3105834"/>
            <a:ext cx="25574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Note</a:t>
            </a:r>
            <a:r>
              <a:rPr lang="en-US" dirty="0"/>
              <a:t>: for simple graphs,</a:t>
            </a:r>
          </a:p>
          <a:p>
            <a:r>
              <a:rPr lang="en-US" dirty="0"/>
              <a:t>self loops are ignored</a:t>
            </a:r>
          </a:p>
        </p:txBody>
      </p:sp>
    </p:spTree>
    <p:extLst>
      <p:ext uri="{BB962C8B-B14F-4D97-AF65-F5344CB8AC3E}">
        <p14:creationId xmlns:p14="http://schemas.microsoft.com/office/powerpoint/2010/main" val="259684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0" grpId="0" animBg="1"/>
      <p:bldP spid="41" grpId="0" animBg="1"/>
      <p:bldP spid="48" grpId="0" animBg="1"/>
      <p:bldP spid="49" grpId="0" animBg="1"/>
      <p:bldP spid="50" grpId="0" animBg="1"/>
      <p:bldP spid="51" grpId="0" animBg="1"/>
      <p:bldP spid="55" grpId="0"/>
      <p:bldP spid="56" grpId="0"/>
      <p:bldP spid="57" grpId="0" animBg="1"/>
      <p:bldP spid="107" grpId="0" animBg="1"/>
      <p:bldP spid="10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A95F3-39F9-4088-4753-92FBF122F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8050A-0C27-9E3E-AD5A-7048B678D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Cliques and Independent Sets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9A32C742-4C03-7F58-0072-D8C7B5E4E5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8436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Theorem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be a graph.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clique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an independent set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</m:e>
                    </m:acc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3" name="Content Placeholder 14">
                <a:extLst>
                  <a:ext uri="{FF2B5EF4-FFF2-40B4-BE49-F238E27FC236}">
                    <a16:creationId xmlns:a16="http://schemas.microsoft.com/office/drawing/2014/main" id="{9A32C742-4C03-7F58-0072-D8C7B5E4E5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843655"/>
              </a:xfrm>
              <a:blipFill>
                <a:blip r:embed="rId3"/>
                <a:stretch>
                  <a:fillRect l="-1217" t="-2694" r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Oval 36">
            <a:extLst>
              <a:ext uri="{FF2B5EF4-FFF2-40B4-BE49-F238E27FC236}">
                <a16:creationId xmlns:a16="http://schemas.microsoft.com/office/drawing/2014/main" id="{0E51A9AE-1EE3-18FA-E2AD-6832BDA9EBF3}"/>
              </a:ext>
            </a:extLst>
          </p:cNvPr>
          <p:cNvSpPr/>
          <p:nvPr/>
        </p:nvSpPr>
        <p:spPr>
          <a:xfrm>
            <a:off x="6922815" y="3761411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919AFF9-8B25-DF2C-6A0F-1479E227FFE9}"/>
              </a:ext>
            </a:extLst>
          </p:cNvPr>
          <p:cNvSpPr/>
          <p:nvPr/>
        </p:nvSpPr>
        <p:spPr>
          <a:xfrm>
            <a:off x="7916463" y="3200579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6E6352F-325B-9981-C154-EB0887C0B8A9}"/>
              </a:ext>
            </a:extLst>
          </p:cNvPr>
          <p:cNvSpPr/>
          <p:nvPr/>
        </p:nvSpPr>
        <p:spPr>
          <a:xfrm>
            <a:off x="8393565" y="5261333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3F8510E-8D32-5C90-4470-793DAD503057}"/>
              </a:ext>
            </a:extLst>
          </p:cNvPr>
          <p:cNvSpPr/>
          <p:nvPr/>
        </p:nvSpPr>
        <p:spPr>
          <a:xfrm>
            <a:off x="7183060" y="5261333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3DA8944-60A4-BDD0-7920-0B472F39FF02}"/>
              </a:ext>
            </a:extLst>
          </p:cNvPr>
          <p:cNvSpPr/>
          <p:nvPr/>
        </p:nvSpPr>
        <p:spPr>
          <a:xfrm>
            <a:off x="7623855" y="4390759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2DF6FBD-A4FB-94D6-C787-4C36841263E5}"/>
              </a:ext>
            </a:extLst>
          </p:cNvPr>
          <p:cNvCxnSpPr>
            <a:cxnSpLocks/>
            <a:stCxn id="38" idx="2"/>
            <a:endCxn id="37" idx="7"/>
          </p:cNvCxnSpPr>
          <p:nvPr/>
        </p:nvCxnSpPr>
        <p:spPr>
          <a:xfrm flipH="1">
            <a:off x="7172572" y="3346883"/>
            <a:ext cx="743891" cy="45737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F4F8F4B-233D-1E92-9661-662F982ADE9E}"/>
              </a:ext>
            </a:extLst>
          </p:cNvPr>
          <p:cNvCxnSpPr>
            <a:cxnSpLocks/>
            <a:stCxn id="41" idx="1"/>
            <a:endCxn id="37" idx="5"/>
          </p:cNvCxnSpPr>
          <p:nvPr/>
        </p:nvCxnSpPr>
        <p:spPr>
          <a:xfrm flipH="1" flipV="1">
            <a:off x="7172572" y="4011168"/>
            <a:ext cx="494134" cy="42244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349F071-A0A8-C318-C701-14E64100FC5D}"/>
              </a:ext>
            </a:extLst>
          </p:cNvPr>
          <p:cNvCxnSpPr>
            <a:cxnSpLocks/>
            <a:stCxn id="40" idx="0"/>
            <a:endCxn id="41" idx="3"/>
          </p:cNvCxnSpPr>
          <p:nvPr/>
        </p:nvCxnSpPr>
        <p:spPr>
          <a:xfrm flipV="1">
            <a:off x="7329364" y="4640516"/>
            <a:ext cx="337342" cy="62081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38D4CBD-0AC1-BCFB-CABE-C9F234472004}"/>
              </a:ext>
            </a:extLst>
          </p:cNvPr>
          <p:cNvCxnSpPr>
            <a:stCxn id="41" idx="7"/>
            <a:endCxn id="38" idx="4"/>
          </p:cNvCxnSpPr>
          <p:nvPr/>
        </p:nvCxnSpPr>
        <p:spPr>
          <a:xfrm flipV="1">
            <a:off x="7873612" y="3493187"/>
            <a:ext cx="189155" cy="9404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090164A-09F7-637B-5FBE-9041E0251D71}"/>
              </a:ext>
            </a:extLst>
          </p:cNvPr>
          <p:cNvCxnSpPr>
            <a:cxnSpLocks/>
            <a:stCxn id="39" idx="2"/>
            <a:endCxn id="40" idx="6"/>
          </p:cNvCxnSpPr>
          <p:nvPr/>
        </p:nvCxnSpPr>
        <p:spPr>
          <a:xfrm flipH="1">
            <a:off x="7475668" y="5407637"/>
            <a:ext cx="9178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B2734F41-154A-9F17-A26B-22FC3AB7FA2C}"/>
              </a:ext>
            </a:extLst>
          </p:cNvPr>
          <p:cNvCxnSpPr>
            <a:cxnSpLocks/>
            <a:stCxn id="48" idx="0"/>
            <a:endCxn id="48" idx="2"/>
          </p:cNvCxnSpPr>
          <p:nvPr/>
        </p:nvCxnSpPr>
        <p:spPr>
          <a:xfrm rot="16200000" flipH="1" flipV="1">
            <a:off x="3525685" y="3761411"/>
            <a:ext cx="146304" cy="146304"/>
          </a:xfrm>
          <a:prstGeom prst="curvedConnector4">
            <a:avLst>
              <a:gd name="adj1" fmla="val -156250"/>
              <a:gd name="adj2" fmla="val 2562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A4E15432-AAF2-3BF9-6C82-AC3D291EA0DC}"/>
              </a:ext>
            </a:extLst>
          </p:cNvPr>
          <p:cNvSpPr/>
          <p:nvPr/>
        </p:nvSpPr>
        <p:spPr>
          <a:xfrm>
            <a:off x="3525685" y="3761411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1E156BD-E0CC-0850-2CB3-774DC7794D29}"/>
              </a:ext>
            </a:extLst>
          </p:cNvPr>
          <p:cNvSpPr/>
          <p:nvPr/>
        </p:nvSpPr>
        <p:spPr>
          <a:xfrm>
            <a:off x="4519333" y="3200579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60EE5CC-9377-0DC1-1623-F451436A9B36}"/>
              </a:ext>
            </a:extLst>
          </p:cNvPr>
          <p:cNvSpPr/>
          <p:nvPr/>
        </p:nvSpPr>
        <p:spPr>
          <a:xfrm>
            <a:off x="3785930" y="5261333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5DE0C83-0C21-16C7-EE29-3CF84DDE995B}"/>
              </a:ext>
            </a:extLst>
          </p:cNvPr>
          <p:cNvSpPr/>
          <p:nvPr/>
        </p:nvSpPr>
        <p:spPr>
          <a:xfrm>
            <a:off x="4354099" y="4365068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7552F47-2E18-2D6F-A0FD-23C63AFF7A5B}"/>
                  </a:ext>
                </a:extLst>
              </p:cNvPr>
              <p:cNvSpPr txBox="1"/>
              <p:nvPr/>
            </p:nvSpPr>
            <p:spPr>
              <a:xfrm>
                <a:off x="8393565" y="3062078"/>
                <a:ext cx="315535" cy="4317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7552F47-2E18-2D6F-A0FD-23C63AFF7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3565" y="3062078"/>
                <a:ext cx="315535" cy="43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8445DC0-5904-F220-F474-22A067F8006D}"/>
                  </a:ext>
                </a:extLst>
              </p:cNvPr>
              <p:cNvSpPr txBox="1"/>
              <p:nvPr/>
            </p:nvSpPr>
            <p:spPr>
              <a:xfrm>
                <a:off x="4994355" y="3062078"/>
                <a:ext cx="31553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8445DC0-5904-F220-F474-22A067F80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355" y="3062078"/>
                <a:ext cx="31553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56">
            <a:extLst>
              <a:ext uri="{FF2B5EF4-FFF2-40B4-BE49-F238E27FC236}">
                <a16:creationId xmlns:a16="http://schemas.microsoft.com/office/drawing/2014/main" id="{1F1EA180-11B4-A2E4-6CAF-57D4545070F1}"/>
              </a:ext>
            </a:extLst>
          </p:cNvPr>
          <p:cNvSpPr/>
          <p:nvPr/>
        </p:nvSpPr>
        <p:spPr>
          <a:xfrm>
            <a:off x="4994355" y="5261333"/>
            <a:ext cx="292608" cy="2926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EA467C9-426E-871F-DA35-FAAC0C71FFFE}"/>
              </a:ext>
            </a:extLst>
          </p:cNvPr>
          <p:cNvCxnSpPr>
            <a:cxnSpLocks/>
            <a:stCxn id="48" idx="4"/>
            <a:endCxn id="50" idx="1"/>
          </p:cNvCxnSpPr>
          <p:nvPr/>
        </p:nvCxnSpPr>
        <p:spPr>
          <a:xfrm>
            <a:off x="3671989" y="4054019"/>
            <a:ext cx="156792" cy="125016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25A637E-C534-EE93-A998-5D0BD032F020}"/>
              </a:ext>
            </a:extLst>
          </p:cNvPr>
          <p:cNvCxnSpPr>
            <a:cxnSpLocks/>
            <a:stCxn id="51" idx="5"/>
            <a:endCxn id="57" idx="1"/>
          </p:cNvCxnSpPr>
          <p:nvPr/>
        </p:nvCxnSpPr>
        <p:spPr>
          <a:xfrm>
            <a:off x="4603856" y="4614825"/>
            <a:ext cx="433350" cy="68935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DD501C1-288A-B353-A9BF-3D1D913C1210}"/>
              </a:ext>
            </a:extLst>
          </p:cNvPr>
          <p:cNvCxnSpPr>
            <a:cxnSpLocks/>
            <a:stCxn id="48" idx="5"/>
            <a:endCxn id="57" idx="2"/>
          </p:cNvCxnSpPr>
          <p:nvPr/>
        </p:nvCxnSpPr>
        <p:spPr>
          <a:xfrm>
            <a:off x="3775442" y="4011168"/>
            <a:ext cx="1218913" cy="139646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B9372CC-33A7-E70B-29C2-A5D525E27161}"/>
              </a:ext>
            </a:extLst>
          </p:cNvPr>
          <p:cNvCxnSpPr>
            <a:cxnSpLocks/>
            <a:stCxn id="50" idx="6"/>
            <a:endCxn id="57" idx="3"/>
          </p:cNvCxnSpPr>
          <p:nvPr/>
        </p:nvCxnSpPr>
        <p:spPr>
          <a:xfrm>
            <a:off x="4078538" y="5407637"/>
            <a:ext cx="958668" cy="103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D5840B7-AAB8-E7EE-A922-D20902EFA93E}"/>
              </a:ext>
            </a:extLst>
          </p:cNvPr>
          <p:cNvCxnSpPr>
            <a:cxnSpLocks/>
            <a:stCxn id="49" idx="3"/>
            <a:endCxn id="50" idx="0"/>
          </p:cNvCxnSpPr>
          <p:nvPr/>
        </p:nvCxnSpPr>
        <p:spPr>
          <a:xfrm flipH="1">
            <a:off x="3932234" y="3450336"/>
            <a:ext cx="629950" cy="18109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863E6B6-52E4-AA27-D3A3-2A00A18AB431}"/>
              </a:ext>
            </a:extLst>
          </p:cNvPr>
          <p:cNvCxnSpPr>
            <a:cxnSpLocks/>
            <a:stCxn id="49" idx="5"/>
            <a:endCxn id="57" idx="0"/>
          </p:cNvCxnSpPr>
          <p:nvPr/>
        </p:nvCxnSpPr>
        <p:spPr>
          <a:xfrm>
            <a:off x="4769090" y="3450336"/>
            <a:ext cx="371569" cy="18109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Curved 84">
            <a:extLst>
              <a:ext uri="{FF2B5EF4-FFF2-40B4-BE49-F238E27FC236}">
                <a16:creationId xmlns:a16="http://schemas.microsoft.com/office/drawing/2014/main" id="{BF0E3DC9-BA78-4ECC-7771-EB2BD5E1275D}"/>
              </a:ext>
            </a:extLst>
          </p:cNvPr>
          <p:cNvCxnSpPr>
            <a:cxnSpLocks/>
            <a:stCxn id="50" idx="4"/>
            <a:endCxn id="50" idx="2"/>
          </p:cNvCxnSpPr>
          <p:nvPr/>
        </p:nvCxnSpPr>
        <p:spPr>
          <a:xfrm rot="5400000" flipH="1">
            <a:off x="3785930" y="5407637"/>
            <a:ext cx="146304" cy="146304"/>
          </a:xfrm>
          <a:prstGeom prst="curvedConnector4">
            <a:avLst>
              <a:gd name="adj1" fmla="val -156250"/>
              <a:gd name="adj2" fmla="val 2562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Curved 88">
            <a:extLst>
              <a:ext uri="{FF2B5EF4-FFF2-40B4-BE49-F238E27FC236}">
                <a16:creationId xmlns:a16="http://schemas.microsoft.com/office/drawing/2014/main" id="{57A0D2DB-A735-59E7-DBFE-AE35130C12E3}"/>
              </a:ext>
            </a:extLst>
          </p:cNvPr>
          <p:cNvCxnSpPr>
            <a:cxnSpLocks/>
            <a:stCxn id="39" idx="6"/>
            <a:endCxn id="39" idx="0"/>
          </p:cNvCxnSpPr>
          <p:nvPr/>
        </p:nvCxnSpPr>
        <p:spPr>
          <a:xfrm flipH="1" flipV="1">
            <a:off x="8539869" y="5261333"/>
            <a:ext cx="146304" cy="146304"/>
          </a:xfrm>
          <a:prstGeom prst="curvedConnector4">
            <a:avLst>
              <a:gd name="adj1" fmla="val -156250"/>
              <a:gd name="adj2" fmla="val 2562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Curved 92">
            <a:extLst>
              <a:ext uri="{FF2B5EF4-FFF2-40B4-BE49-F238E27FC236}">
                <a16:creationId xmlns:a16="http://schemas.microsoft.com/office/drawing/2014/main" id="{0FB2D0AF-4ED5-2051-E23D-CFD7E8CB122C}"/>
              </a:ext>
            </a:extLst>
          </p:cNvPr>
          <p:cNvCxnSpPr>
            <a:cxnSpLocks/>
            <a:stCxn id="49" idx="2"/>
            <a:endCxn id="49" idx="0"/>
          </p:cNvCxnSpPr>
          <p:nvPr/>
        </p:nvCxnSpPr>
        <p:spPr>
          <a:xfrm rot="10800000" flipH="1">
            <a:off x="4519333" y="3200579"/>
            <a:ext cx="146304" cy="146304"/>
          </a:xfrm>
          <a:prstGeom prst="curvedConnector4">
            <a:avLst>
              <a:gd name="adj1" fmla="val -156250"/>
              <a:gd name="adj2" fmla="val 2562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Curved 100">
            <a:extLst>
              <a:ext uri="{FF2B5EF4-FFF2-40B4-BE49-F238E27FC236}">
                <a16:creationId xmlns:a16="http://schemas.microsoft.com/office/drawing/2014/main" id="{F7F13795-16CF-A7B8-F403-999D3BBDC617}"/>
              </a:ext>
            </a:extLst>
          </p:cNvPr>
          <p:cNvCxnSpPr>
            <a:cxnSpLocks/>
            <a:stCxn id="51" idx="6"/>
            <a:endCxn id="51" idx="0"/>
          </p:cNvCxnSpPr>
          <p:nvPr/>
        </p:nvCxnSpPr>
        <p:spPr>
          <a:xfrm flipH="1" flipV="1">
            <a:off x="4500403" y="4365068"/>
            <a:ext cx="146304" cy="146304"/>
          </a:xfrm>
          <a:prstGeom prst="curvedConnector4">
            <a:avLst>
              <a:gd name="adj1" fmla="val -156250"/>
              <a:gd name="adj2" fmla="val 2562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D254E3AE-5A7C-CEB1-9F9E-186155BAF42D}"/>
              </a:ext>
            </a:extLst>
          </p:cNvPr>
          <p:cNvSpPr/>
          <p:nvPr/>
        </p:nvSpPr>
        <p:spPr>
          <a:xfrm>
            <a:off x="6921649" y="3760283"/>
            <a:ext cx="292608" cy="292608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8A1CF0E-138B-AA56-8F7E-48E8C912F934}"/>
              </a:ext>
            </a:extLst>
          </p:cNvPr>
          <p:cNvSpPr/>
          <p:nvPr/>
        </p:nvSpPr>
        <p:spPr>
          <a:xfrm>
            <a:off x="7915297" y="3199451"/>
            <a:ext cx="292608" cy="292608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06479A-0993-D827-808F-D8F0F2F381E6}"/>
              </a:ext>
            </a:extLst>
          </p:cNvPr>
          <p:cNvSpPr/>
          <p:nvPr/>
        </p:nvSpPr>
        <p:spPr>
          <a:xfrm>
            <a:off x="7622689" y="4389631"/>
            <a:ext cx="292608" cy="292608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783AA5-82EE-02A7-A68C-85A135AD4ADA}"/>
              </a:ext>
            </a:extLst>
          </p:cNvPr>
          <p:cNvSpPr/>
          <p:nvPr/>
        </p:nvSpPr>
        <p:spPr>
          <a:xfrm>
            <a:off x="3524519" y="3760283"/>
            <a:ext cx="292608" cy="292608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66F533E-0750-4EC2-8E2D-340EA28B948A}"/>
              </a:ext>
            </a:extLst>
          </p:cNvPr>
          <p:cNvSpPr/>
          <p:nvPr/>
        </p:nvSpPr>
        <p:spPr>
          <a:xfrm>
            <a:off x="4518167" y="3199451"/>
            <a:ext cx="292608" cy="292608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B777ECD-D27C-DF1A-9EF9-182191CD9269}"/>
              </a:ext>
            </a:extLst>
          </p:cNvPr>
          <p:cNvSpPr/>
          <p:nvPr/>
        </p:nvSpPr>
        <p:spPr>
          <a:xfrm>
            <a:off x="4352933" y="4363940"/>
            <a:ext cx="292608" cy="292608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16697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0" grpId="0" animBg="1"/>
      <p:bldP spid="41" grpId="0" animBg="1"/>
      <p:bldP spid="48" grpId="0" animBg="1"/>
      <p:bldP spid="49" grpId="0" animBg="1"/>
      <p:bldP spid="50" grpId="0" animBg="1"/>
      <p:bldP spid="51" grpId="0" animBg="1"/>
      <p:bldP spid="55" grpId="0"/>
      <p:bldP spid="56" grpId="0"/>
      <p:bldP spid="57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AF9E3-2D7F-0F90-65F4-17B464F5F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7646"/>
            <a:ext cx="10515600" cy="550270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Group Exercises</a:t>
            </a:r>
          </a:p>
          <a:p>
            <a:pPr marL="0" indent="0" algn="ctr"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Form groups of 3-4</a:t>
            </a: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07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4983</TotalTime>
  <Words>585</Words>
  <Application>Microsoft Office PowerPoint</Application>
  <PresentationFormat>Widescreen</PresentationFormat>
  <Paragraphs>139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Graphs I April 8, 2026</vt:lpstr>
      <vt:lpstr>Agenda</vt:lpstr>
      <vt:lpstr>Graph (recap)</vt:lpstr>
      <vt:lpstr>Subgraph</vt:lpstr>
      <vt:lpstr>Spanning Subgraph</vt:lpstr>
      <vt:lpstr>Spanning Subgraph</vt:lpstr>
      <vt:lpstr>Induced Subgraph</vt:lpstr>
      <vt:lpstr>Induced Subgraph</vt:lpstr>
      <vt:lpstr>Clique</vt:lpstr>
      <vt:lpstr>Independent Set</vt:lpstr>
      <vt:lpstr>Complement</vt:lpstr>
      <vt:lpstr>Cliques and Independent Sets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Definition January 16, 2026</dc:title>
  <dc:creator>Charlie MURPHY</dc:creator>
  <cp:lastModifiedBy>Murphy, Charlie</cp:lastModifiedBy>
  <cp:revision>64</cp:revision>
  <dcterms:created xsi:type="dcterms:W3CDTF">2026-01-16T17:57:13Z</dcterms:created>
  <dcterms:modified xsi:type="dcterms:W3CDTF">2026-04-10T04:50:35Z</dcterms:modified>
</cp:coreProperties>
</file>